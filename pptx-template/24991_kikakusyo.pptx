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600" r:id="rId4"/>
  </p:sldMasterIdLst>
  <p:notesMasterIdLst>
    <p:notesMasterId r:id="rId30"/>
  </p:notesMasterIdLst>
  <p:sldIdLst>
    <p:sldId id="402" r:id="rId5"/>
    <p:sldId id="2478" r:id="rId6"/>
    <p:sldId id="2374" r:id="rId7"/>
    <p:sldId id="2477" r:id="rId8"/>
    <p:sldId id="2220" r:id="rId9"/>
    <p:sldId id="2479" r:id="rId10"/>
    <p:sldId id="2482" r:id="rId11"/>
    <p:sldId id="2485" r:id="rId12"/>
    <p:sldId id="1379" r:id="rId13"/>
    <p:sldId id="2484" r:id="rId14"/>
    <p:sldId id="2486" r:id="rId15"/>
    <p:sldId id="2501" r:id="rId16"/>
    <p:sldId id="2487" r:id="rId17"/>
    <p:sldId id="2489" r:id="rId18"/>
    <p:sldId id="2495" r:id="rId19"/>
    <p:sldId id="2490" r:id="rId20"/>
    <p:sldId id="2496" r:id="rId21"/>
    <p:sldId id="2491" r:id="rId22"/>
    <p:sldId id="2497" r:id="rId23"/>
    <p:sldId id="2492" r:id="rId24"/>
    <p:sldId id="2498" r:id="rId25"/>
    <p:sldId id="2493" r:id="rId26"/>
    <p:sldId id="2499" r:id="rId27"/>
    <p:sldId id="2494" r:id="rId28"/>
    <p:sldId id="2500" r:id="rId29"/>
  </p:sldIdLst>
  <p:sldSz cx="12192000" cy="6858000"/>
  <p:notesSz cx="6858000" cy="9144000"/>
  <p:defaultTextStyle>
    <a:defPPr>
      <a:defRPr lang="ja-JP" alt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9EC"/>
    <a:srgbClr val="FF0066"/>
    <a:srgbClr val="2F5597"/>
    <a:srgbClr val="4188F1"/>
    <a:srgbClr val="FF6699"/>
    <a:srgbClr val="000000"/>
    <a:srgbClr val="376092"/>
    <a:srgbClr val="4AE1FF"/>
    <a:srgbClr val="203864"/>
    <a:srgbClr val="0E58C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5E7FDD-50B7-4EC5-9E25-86958D610F7C}" v="17" dt="2022-12-22T15:08:44.130"/>
    <p1510:client id="{2FCE479E-338E-4C6C-914B-0A8EF3380EC7}" v="1" dt="2022-12-23T05:09:49.9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80" autoAdjust="0"/>
    <p:restoredTop sz="95368" autoAdjust="0"/>
  </p:normalViewPr>
  <p:slideViewPr>
    <p:cSldViewPr snapToGrid="0">
      <p:cViewPr varScale="1">
        <p:scale>
          <a:sx n="101" d="100"/>
          <a:sy n="101" d="100"/>
        </p:scale>
        <p:origin x="92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4" d="100"/>
        <a:sy n="5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F15F5-6E50-4E04-A7C4-0043E9A432C9}" type="datetimeFigureOut">
              <a:rPr kumimoji="1" lang="ja-JP" altLang="en-US" smtClean="0"/>
              <a:t>2022/12/23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E3D9A-2F70-4EB6-9A78-D884F8CCC3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013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61EA0F-A667-4B49-8422-0062BC55E249}" type="slidenum">
              <a:rPr kumimoji="0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3012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61EA0F-A667-4B49-8422-0062BC55E249}" type="slidenum">
              <a:rPr kumimoji="0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838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C7D54E-6431-43D7-89C9-1417E1424CC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76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C7D54E-6431-43D7-89C9-1417E1424CC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521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C7D54E-6431-43D7-89C9-1417E1424CC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089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61EA0F-A667-4B49-8422-0062BC55E249}" type="slidenum">
              <a:rPr kumimoji="0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457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C7D54E-6431-43D7-89C9-1417E1424CC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8589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C7D54E-6431-43D7-89C9-1417E1424CC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0983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C7D54E-6431-43D7-89C9-1417E1424CC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8006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C7D54E-6431-43D7-89C9-1417E1424CC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9240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C7D54E-6431-43D7-89C9-1417E1424CC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3409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C7D54E-6431-43D7-89C9-1417E1424CC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2089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C7D54E-6431-43D7-89C9-1417E1424CC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12853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C7D54E-6431-43D7-89C9-1417E1424CC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6190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C7D54E-6431-43D7-89C9-1417E1424CC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9767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C7D54E-6431-43D7-89C9-1417E1424CC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4380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C7D54E-6431-43D7-89C9-1417E1424CC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72895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C7D54E-6431-43D7-89C9-1417E1424CC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969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530EA-1D60-4251-A000-43844A16160F}" type="datetimeFigureOut">
              <a:rPr kumimoji="1" lang="ja-JP" altLang="en-US" smtClean="0"/>
              <a:t>2022/12/23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E798C-64F3-4407-9A23-4F2DA47ED3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0102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3E2F0A-F95B-4424-B980-B8F474769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35091F2-167A-443F-90AF-8B96EDC3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77567-C78C-47E3-8ECF-979C0858DEF6}" type="datetimeFigureOut">
              <a:rPr kumimoji="1" lang="ja-JP" altLang="en-US" smtClean="0"/>
              <a:t>2022/12/23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9576271-AD91-486E-9A8D-377B33BD2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9D6A780-2C01-4658-9EB5-10E0A9CF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09B8E-9304-4ABA-A455-EFD0DF5DA0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7997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1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" y="264600"/>
            <a:ext cx="181029" cy="367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9594" tIns="44798" rIns="89594" bIns="4479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39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764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5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406">
          <p15:clr>
            <a:srgbClr val="C35EA4"/>
          </p15:clr>
        </p15:guide>
        <p15:guide id="2" orient="horz" pos="302">
          <p15:clr>
            <a:srgbClr val="C35EA4"/>
          </p15:clr>
        </p15:guide>
        <p15:guide id="3" orient="horz" pos="4104">
          <p15:clr>
            <a:srgbClr val="C35EA4"/>
          </p15:clr>
        </p15:guide>
        <p15:guide id="4" pos="288">
          <p15:clr>
            <a:srgbClr val="C35EA4"/>
          </p15:clr>
        </p15:guide>
        <p15:guide id="5" pos="7546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27627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0530EA-1D60-4251-A000-43844A16160F}" type="datetimeFigureOut">
              <a:rPr kumimoji="1" lang="ja-JP" altLang="en-US" smtClean="0"/>
              <a:t>2022/12/23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E798C-64F3-4407-9A23-4F2DA47ED3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7982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7" r:id="rId1"/>
    <p:sldLayoutId id="2147485224" r:id="rId2"/>
    <p:sldLayoutId id="2147484963" r:id="rId3"/>
    <p:sldLayoutId id="214748522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C382404-E6AC-41D9-81CB-55554439F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4119" y="242596"/>
            <a:ext cx="11719066" cy="6354147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73511" y="1707439"/>
            <a:ext cx="11694370" cy="2977903"/>
          </a:xfrm>
        </p:spPr>
        <p:txBody>
          <a:bodyPr rtlCol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1200"/>
              </a:spcAft>
            </a:pPr>
            <a:r>
              <a:rPr lang="en-US" altLang="ja-JP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17.3</a:t>
            </a:r>
            <a:r>
              <a:rPr lang="ja-JP" altLang="en-US" sz="3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万人</a:t>
            </a:r>
            <a:r>
              <a:rPr lang="ja-JP" altLang="en-US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の調査、</a:t>
            </a:r>
            <a:r>
              <a:rPr lang="en-US" altLang="ja-JP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5</a:t>
            </a:r>
            <a:r>
              <a:rPr lang="ja-JP" altLang="en-US" sz="3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万のパワポ資料</a:t>
            </a:r>
            <a:r>
              <a:rPr lang="ja-JP" altLang="en-US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の分析</a:t>
            </a:r>
            <a:br>
              <a:rPr lang="en-US" altLang="ja-JP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lang="ja-JP" altLang="en-US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そして</a:t>
            </a:r>
            <a:r>
              <a:rPr lang="en-US" altLang="ja-JP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2.1</a:t>
            </a:r>
            <a:r>
              <a:rPr lang="ja-JP" altLang="en-US" sz="3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万人</a:t>
            </a:r>
            <a:r>
              <a:rPr lang="ja-JP" altLang="en-US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の再現実験でわかった！</a:t>
            </a:r>
            <a:br>
              <a:rPr lang="en-US" altLang="ja-JP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br>
              <a:rPr lang="en-US" altLang="ja-JP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lang="ja-JP" altLang="en-US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相手を</a:t>
            </a:r>
            <a:r>
              <a:rPr lang="ja-JP" altLang="en-US" sz="8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動かす</a:t>
            </a:r>
            <a:r>
              <a:rPr lang="ja-JP" altLang="en-US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企画書</a:t>
            </a:r>
            <a:endParaRPr lang="ja-JP" altLang="en-US" sz="4800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3001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CB0F5EF-0C4A-C2C9-ECAC-4650C086F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252330"/>
          </a:xfrm>
          <a:prstGeom prst="rect">
            <a:avLst/>
          </a:prstGeom>
          <a:solidFill>
            <a:srgbClr val="0831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80309DC-C464-470F-B96D-360ECE3327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0" y="204453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企画書の目的</a:t>
            </a:r>
            <a:endParaRPr kumimoji="1" lang="en-US" altLang="ja-JP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93F9A5E-D11F-A810-7F28-29CD01761A2D}"/>
              </a:ext>
            </a:extLst>
          </p:cNvPr>
          <p:cNvSpPr txBox="1"/>
          <p:nvPr/>
        </p:nvSpPr>
        <p:spPr>
          <a:xfrm>
            <a:off x="0" y="2819326"/>
            <a:ext cx="12192000" cy="2659537"/>
          </a:xfrm>
          <a:prstGeom prst="rect">
            <a:avLst/>
          </a:prstGeom>
          <a:noFill/>
        </p:spPr>
        <p:txBody>
          <a:bodyPr wrap="square" lIns="179285" tIns="143428" rIns="179285" bIns="143428" rtlCol="0">
            <a:spAutoFit/>
          </a:bodyPr>
          <a:lstStyle/>
          <a:p>
            <a:pPr marL="0" marR="0" lvl="0" indent="0" algn="ctr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200" b="1" i="0" u="none" strike="noStrike" kern="0" cap="none" spc="0" normalizeH="0" baseline="0" noProof="0" dirty="0">
                <a:ln>
                  <a:noFill/>
                </a:ln>
                <a:solidFill>
                  <a:srgbClr val="0E58C4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相手 </a:t>
            </a:r>
            <a:r>
              <a:rPr kumimoji="0" lang="ja-JP" altLang="en-US" sz="6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と共鳴して</a:t>
            </a:r>
            <a:endParaRPr kumimoji="0" lang="en-US" altLang="ja-JP" sz="6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6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思いどおり </a:t>
            </a:r>
            <a:r>
              <a:rPr kumimoji="0" lang="ja-JP" altLang="en-US" sz="7200" b="1" i="0" u="none" strike="noStrike" kern="0" cap="none" spc="0" normalizeH="0" baseline="0" noProof="0" dirty="0">
                <a:ln>
                  <a:noFill/>
                </a:ln>
                <a:solidFill>
                  <a:srgbClr val="0E58C4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行動 </a:t>
            </a:r>
            <a:r>
              <a:rPr kumimoji="0" lang="ja-JP" altLang="en-US" sz="6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させること</a:t>
            </a:r>
            <a:endParaRPr kumimoji="0" lang="en-US" altLang="ja-JP" sz="6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78079E1-91BF-6053-E083-08B8A9F2B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57279" y="2898288"/>
            <a:ext cx="2288485" cy="1059013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EF7EE061-AAF6-DD9E-CBB3-15672ABA2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3009900" y="2106903"/>
            <a:ext cx="1987826" cy="753807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タイトル 17">
            <a:extLst>
              <a:ext uri="{FF2B5EF4-FFF2-40B4-BE49-F238E27FC236}">
                <a16:creationId xmlns:a16="http://schemas.microsoft.com/office/drawing/2014/main" id="{A8F6116D-4C4A-96CD-59D4-8E7F2BA477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250950"/>
            <a:ext cx="4381500" cy="11207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❶誰に？</a:t>
            </a:r>
            <a:endParaRPr kumimoji="0" lang="en-US" altLang="ja-JP" sz="54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2158296-DC6D-EA0F-53BC-03FF420EF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59626" y="4129215"/>
            <a:ext cx="2160105" cy="1059012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0E85EB8-EDE8-C346-21F7-A0FB395BBD50}"/>
              </a:ext>
            </a:extLst>
          </p:cNvPr>
          <p:cNvSpPr txBox="1"/>
          <p:nvPr/>
        </p:nvSpPr>
        <p:spPr>
          <a:xfrm>
            <a:off x="3009900" y="5737346"/>
            <a:ext cx="6172200" cy="1120654"/>
          </a:xfrm>
          <a:prstGeom prst="rect">
            <a:avLst/>
          </a:prstGeom>
          <a:noFill/>
        </p:spPr>
        <p:txBody>
          <a:bodyPr wrap="square" lIns="179285" tIns="143428" rIns="179285" bIns="143428" rtlCol="0">
            <a:spAutoFit/>
          </a:bodyPr>
          <a:lstStyle/>
          <a:p>
            <a:pPr marL="0" marR="0" lvl="0" indent="0" algn="ctr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5400" b="1" kern="0" dirty="0">
                <a:solidFill>
                  <a:schemeClr val="bg1">
                    <a:lumMod val="5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❷</a:t>
            </a:r>
            <a:r>
              <a:rPr kumimoji="0" lang="ja-JP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どういう</a:t>
            </a:r>
            <a:r>
              <a:rPr kumimoji="0" lang="ja-JP" altLang="en-US" sz="5400" b="1" kern="0" dirty="0">
                <a:solidFill>
                  <a:schemeClr val="bg1">
                    <a:lumMod val="5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行動</a:t>
            </a:r>
            <a:r>
              <a:rPr kumimoji="0" lang="ja-JP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？</a:t>
            </a:r>
            <a:endParaRPr kumimoji="0" lang="en-US" altLang="ja-JP" sz="54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3" name="矢印: 下 22">
            <a:extLst>
              <a:ext uri="{FF2B5EF4-FFF2-40B4-BE49-F238E27FC236}">
                <a16:creationId xmlns:a16="http://schemas.microsoft.com/office/drawing/2014/main" id="{D1D01187-2BC4-0F44-8CC0-8A858A442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5045765" y="5188227"/>
            <a:ext cx="1987826" cy="753807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C592387-5016-E876-557A-C162EE13F345}"/>
              </a:ext>
            </a:extLst>
          </p:cNvPr>
          <p:cNvSpPr txBox="1"/>
          <p:nvPr/>
        </p:nvSpPr>
        <p:spPr>
          <a:xfrm>
            <a:off x="6446770" y="1503230"/>
            <a:ext cx="5257800" cy="1397653"/>
          </a:xfrm>
          <a:prstGeom prst="rect">
            <a:avLst/>
          </a:prstGeom>
          <a:noFill/>
        </p:spPr>
        <p:txBody>
          <a:bodyPr wrap="square" lIns="179285" tIns="143428" rIns="179285" bIns="143428" rtlCol="0">
            <a:spAutoFit/>
          </a:bodyPr>
          <a:lstStyle/>
          <a:p>
            <a:pPr marL="0" marR="0" lvl="0" indent="0" algn="ctr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600" b="1" kern="0" dirty="0">
                <a:solidFill>
                  <a:schemeClr val="bg1">
                    <a:lumMod val="5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❶と❷が明確になっていないと成功しない</a:t>
            </a:r>
            <a:endParaRPr kumimoji="0" lang="en-US" altLang="ja-JP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94777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6558F11-6E41-830A-6FD7-07C57725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73008" y="1154723"/>
            <a:ext cx="6845984" cy="3322027"/>
            <a:chOff x="450165" y="1230923"/>
            <a:chExt cx="11149822" cy="4928381"/>
          </a:xfrm>
        </p:grpSpPr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E0ADA44D-4949-4704-A4EF-D6489482A155}"/>
                </a:ext>
              </a:extLst>
            </p:cNvPr>
            <p:cNvSpPr/>
            <p:nvPr/>
          </p:nvSpPr>
          <p:spPr bwMode="auto">
            <a:xfrm>
              <a:off x="450165" y="1280160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117096D1-CEB3-42C4-956E-B9579F83DB93}"/>
                </a:ext>
              </a:extLst>
            </p:cNvPr>
            <p:cNvSpPr/>
            <p:nvPr/>
          </p:nvSpPr>
          <p:spPr bwMode="auto">
            <a:xfrm>
              <a:off x="1310640" y="1280160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1365B312-2972-47D0-8E1C-62E00E76946E}"/>
                </a:ext>
              </a:extLst>
            </p:cNvPr>
            <p:cNvSpPr/>
            <p:nvPr/>
          </p:nvSpPr>
          <p:spPr bwMode="auto">
            <a:xfrm>
              <a:off x="450165" y="2112498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94B26C82-D81A-43E2-85EB-7078DA8F0569}"/>
                </a:ext>
              </a:extLst>
            </p:cNvPr>
            <p:cNvSpPr/>
            <p:nvPr/>
          </p:nvSpPr>
          <p:spPr bwMode="auto">
            <a:xfrm>
              <a:off x="1310640" y="2112498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CD1EA06C-B72B-4139-B221-460ACE12FA95}"/>
                </a:ext>
              </a:extLst>
            </p:cNvPr>
            <p:cNvSpPr/>
            <p:nvPr/>
          </p:nvSpPr>
          <p:spPr bwMode="auto">
            <a:xfrm>
              <a:off x="450165" y="296828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3F715EA2-E40A-427C-9BBC-B8F6E4CC1903}"/>
                </a:ext>
              </a:extLst>
            </p:cNvPr>
            <p:cNvSpPr/>
            <p:nvPr/>
          </p:nvSpPr>
          <p:spPr bwMode="auto">
            <a:xfrm>
              <a:off x="1310640" y="296828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CA349E04-15C8-48BE-96B3-B04677851B9A}"/>
                </a:ext>
              </a:extLst>
            </p:cNvPr>
            <p:cNvSpPr/>
            <p:nvPr/>
          </p:nvSpPr>
          <p:spPr bwMode="auto">
            <a:xfrm>
              <a:off x="450165" y="3800621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F4F4D9B1-3B67-40AA-8541-19D61930D6C3}"/>
                </a:ext>
              </a:extLst>
            </p:cNvPr>
            <p:cNvSpPr/>
            <p:nvPr/>
          </p:nvSpPr>
          <p:spPr bwMode="auto">
            <a:xfrm>
              <a:off x="1310640" y="3800621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CB9507B3-AE44-4414-9957-2BF10D27381F}"/>
                </a:ext>
              </a:extLst>
            </p:cNvPr>
            <p:cNvSpPr/>
            <p:nvPr/>
          </p:nvSpPr>
          <p:spPr bwMode="auto">
            <a:xfrm>
              <a:off x="450165" y="4632959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3121BC10-8E9E-4BC0-BC21-84F1E867D8D6}"/>
                </a:ext>
              </a:extLst>
            </p:cNvPr>
            <p:cNvSpPr/>
            <p:nvPr/>
          </p:nvSpPr>
          <p:spPr bwMode="auto">
            <a:xfrm>
              <a:off x="1310640" y="4632959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4BB6FB3E-3873-47B4-BCB2-936000137675}"/>
                </a:ext>
              </a:extLst>
            </p:cNvPr>
            <p:cNvSpPr/>
            <p:nvPr/>
          </p:nvSpPr>
          <p:spPr bwMode="auto">
            <a:xfrm>
              <a:off x="450165" y="5465298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3CE4BE33-DF0B-4370-955B-DC5BF1C31771}"/>
                </a:ext>
              </a:extLst>
            </p:cNvPr>
            <p:cNvSpPr/>
            <p:nvPr/>
          </p:nvSpPr>
          <p:spPr bwMode="auto">
            <a:xfrm>
              <a:off x="1310640" y="5465298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D1214152-8E12-42D8-9AE2-447ACA8745D1}"/>
                </a:ext>
              </a:extLst>
            </p:cNvPr>
            <p:cNvSpPr/>
            <p:nvPr/>
          </p:nvSpPr>
          <p:spPr bwMode="auto">
            <a:xfrm>
              <a:off x="2196905" y="1280160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259FFB9F-66A2-463E-A32D-D6E55F4A8484}"/>
                </a:ext>
              </a:extLst>
            </p:cNvPr>
            <p:cNvSpPr/>
            <p:nvPr/>
          </p:nvSpPr>
          <p:spPr bwMode="auto">
            <a:xfrm>
              <a:off x="3057378" y="1280160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4BAB3195-F461-41E2-8E3D-64E42A579438}"/>
                </a:ext>
              </a:extLst>
            </p:cNvPr>
            <p:cNvSpPr/>
            <p:nvPr/>
          </p:nvSpPr>
          <p:spPr bwMode="auto">
            <a:xfrm>
              <a:off x="2196905" y="2112498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9" name="楕円 18">
              <a:extLst>
                <a:ext uri="{FF2B5EF4-FFF2-40B4-BE49-F238E27FC236}">
                  <a16:creationId xmlns:a16="http://schemas.microsoft.com/office/drawing/2014/main" id="{8EB449C1-2F5A-434C-829D-9F8890FBBF44}"/>
                </a:ext>
              </a:extLst>
            </p:cNvPr>
            <p:cNvSpPr/>
            <p:nvPr/>
          </p:nvSpPr>
          <p:spPr bwMode="auto">
            <a:xfrm>
              <a:off x="3057378" y="2112498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2EF60CD5-356D-4597-8DC1-1A1F1E793874}"/>
                </a:ext>
              </a:extLst>
            </p:cNvPr>
            <p:cNvSpPr/>
            <p:nvPr/>
          </p:nvSpPr>
          <p:spPr bwMode="auto">
            <a:xfrm>
              <a:off x="2196905" y="296828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1" name="楕円 20">
              <a:extLst>
                <a:ext uri="{FF2B5EF4-FFF2-40B4-BE49-F238E27FC236}">
                  <a16:creationId xmlns:a16="http://schemas.microsoft.com/office/drawing/2014/main" id="{D465F968-21CC-41ED-A743-DFC1F203FE53}"/>
                </a:ext>
              </a:extLst>
            </p:cNvPr>
            <p:cNvSpPr/>
            <p:nvPr/>
          </p:nvSpPr>
          <p:spPr bwMode="auto">
            <a:xfrm>
              <a:off x="3057378" y="296828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8A34C28B-A955-45EF-A25F-92BA7D48DD37}"/>
                </a:ext>
              </a:extLst>
            </p:cNvPr>
            <p:cNvSpPr/>
            <p:nvPr/>
          </p:nvSpPr>
          <p:spPr bwMode="auto">
            <a:xfrm>
              <a:off x="2196905" y="3800621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楕円 22">
              <a:extLst>
                <a:ext uri="{FF2B5EF4-FFF2-40B4-BE49-F238E27FC236}">
                  <a16:creationId xmlns:a16="http://schemas.microsoft.com/office/drawing/2014/main" id="{EC7CF232-251E-4750-8398-77D34686BAD3}"/>
                </a:ext>
              </a:extLst>
            </p:cNvPr>
            <p:cNvSpPr/>
            <p:nvPr/>
          </p:nvSpPr>
          <p:spPr bwMode="auto">
            <a:xfrm>
              <a:off x="3057378" y="3800621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楕円 23">
              <a:extLst>
                <a:ext uri="{FF2B5EF4-FFF2-40B4-BE49-F238E27FC236}">
                  <a16:creationId xmlns:a16="http://schemas.microsoft.com/office/drawing/2014/main" id="{55127BAC-4AAB-4980-8498-42A5733CE5DF}"/>
                </a:ext>
              </a:extLst>
            </p:cNvPr>
            <p:cNvSpPr/>
            <p:nvPr/>
          </p:nvSpPr>
          <p:spPr bwMode="auto">
            <a:xfrm>
              <a:off x="2196905" y="4632959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050447A7-AFAB-4F05-B41F-A49CE19A6263}"/>
                </a:ext>
              </a:extLst>
            </p:cNvPr>
            <p:cNvSpPr/>
            <p:nvPr/>
          </p:nvSpPr>
          <p:spPr bwMode="auto">
            <a:xfrm>
              <a:off x="3057378" y="4632959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6439550B-F48A-440B-AC12-9043AB7C9776}"/>
                </a:ext>
              </a:extLst>
            </p:cNvPr>
            <p:cNvSpPr/>
            <p:nvPr/>
          </p:nvSpPr>
          <p:spPr bwMode="auto">
            <a:xfrm>
              <a:off x="2196905" y="5465298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7" name="楕円 26">
              <a:extLst>
                <a:ext uri="{FF2B5EF4-FFF2-40B4-BE49-F238E27FC236}">
                  <a16:creationId xmlns:a16="http://schemas.microsoft.com/office/drawing/2014/main" id="{082F37E0-47F6-4632-A2CD-FE076019185D}"/>
                </a:ext>
              </a:extLst>
            </p:cNvPr>
            <p:cNvSpPr/>
            <p:nvPr/>
          </p:nvSpPr>
          <p:spPr bwMode="auto">
            <a:xfrm>
              <a:off x="3057378" y="5465298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8" name="楕円 27">
              <a:extLst>
                <a:ext uri="{FF2B5EF4-FFF2-40B4-BE49-F238E27FC236}">
                  <a16:creationId xmlns:a16="http://schemas.microsoft.com/office/drawing/2014/main" id="{A4518904-D0AD-4C41-9FAD-74C91ED008B0}"/>
                </a:ext>
              </a:extLst>
            </p:cNvPr>
            <p:cNvSpPr/>
            <p:nvPr/>
          </p:nvSpPr>
          <p:spPr bwMode="auto">
            <a:xfrm>
              <a:off x="3917853" y="123092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9" name="楕円 28">
              <a:extLst>
                <a:ext uri="{FF2B5EF4-FFF2-40B4-BE49-F238E27FC236}">
                  <a16:creationId xmlns:a16="http://schemas.microsoft.com/office/drawing/2014/main" id="{A461A901-B868-4441-AA07-6CF987CC380D}"/>
                </a:ext>
              </a:extLst>
            </p:cNvPr>
            <p:cNvSpPr/>
            <p:nvPr/>
          </p:nvSpPr>
          <p:spPr bwMode="auto">
            <a:xfrm>
              <a:off x="4778326" y="123092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0" name="楕円 29">
              <a:extLst>
                <a:ext uri="{FF2B5EF4-FFF2-40B4-BE49-F238E27FC236}">
                  <a16:creationId xmlns:a16="http://schemas.microsoft.com/office/drawing/2014/main" id="{C31462A0-4F2A-4836-B577-FD01D231BF0D}"/>
                </a:ext>
              </a:extLst>
            </p:cNvPr>
            <p:cNvSpPr/>
            <p:nvPr/>
          </p:nvSpPr>
          <p:spPr bwMode="auto">
            <a:xfrm>
              <a:off x="3917853" y="2063261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1" name="楕円 30">
              <a:extLst>
                <a:ext uri="{FF2B5EF4-FFF2-40B4-BE49-F238E27FC236}">
                  <a16:creationId xmlns:a16="http://schemas.microsoft.com/office/drawing/2014/main" id="{809D824B-6E7F-41FA-B658-53FE16B63396}"/>
                </a:ext>
              </a:extLst>
            </p:cNvPr>
            <p:cNvSpPr/>
            <p:nvPr/>
          </p:nvSpPr>
          <p:spPr bwMode="auto">
            <a:xfrm>
              <a:off x="4778326" y="2063261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2" name="楕円 31">
              <a:extLst>
                <a:ext uri="{FF2B5EF4-FFF2-40B4-BE49-F238E27FC236}">
                  <a16:creationId xmlns:a16="http://schemas.microsoft.com/office/drawing/2014/main" id="{95851A58-C6B1-46C6-A1A0-B9A11E1A2345}"/>
                </a:ext>
              </a:extLst>
            </p:cNvPr>
            <p:cNvSpPr/>
            <p:nvPr/>
          </p:nvSpPr>
          <p:spPr bwMode="auto">
            <a:xfrm>
              <a:off x="3917853" y="2919046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3" name="楕円 32">
              <a:extLst>
                <a:ext uri="{FF2B5EF4-FFF2-40B4-BE49-F238E27FC236}">
                  <a16:creationId xmlns:a16="http://schemas.microsoft.com/office/drawing/2014/main" id="{3422EF77-1AB3-457E-8D70-A98C806890B1}"/>
                </a:ext>
              </a:extLst>
            </p:cNvPr>
            <p:cNvSpPr/>
            <p:nvPr/>
          </p:nvSpPr>
          <p:spPr bwMode="auto">
            <a:xfrm>
              <a:off x="4778326" y="2919046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4" name="楕円 33">
              <a:extLst>
                <a:ext uri="{FF2B5EF4-FFF2-40B4-BE49-F238E27FC236}">
                  <a16:creationId xmlns:a16="http://schemas.microsoft.com/office/drawing/2014/main" id="{E33DBB38-EA47-4040-AF88-736D2C9C64CC}"/>
                </a:ext>
              </a:extLst>
            </p:cNvPr>
            <p:cNvSpPr/>
            <p:nvPr/>
          </p:nvSpPr>
          <p:spPr bwMode="auto">
            <a:xfrm>
              <a:off x="3917853" y="375138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5" name="楕円 34">
              <a:extLst>
                <a:ext uri="{FF2B5EF4-FFF2-40B4-BE49-F238E27FC236}">
                  <a16:creationId xmlns:a16="http://schemas.microsoft.com/office/drawing/2014/main" id="{2935652E-43BC-484D-AE3D-D4AD71270A3A}"/>
                </a:ext>
              </a:extLst>
            </p:cNvPr>
            <p:cNvSpPr/>
            <p:nvPr/>
          </p:nvSpPr>
          <p:spPr bwMode="auto">
            <a:xfrm>
              <a:off x="4778326" y="375138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6" name="楕円 35">
              <a:extLst>
                <a:ext uri="{FF2B5EF4-FFF2-40B4-BE49-F238E27FC236}">
                  <a16:creationId xmlns:a16="http://schemas.microsoft.com/office/drawing/2014/main" id="{5EFA8484-BF16-4930-9F0E-C6CD7B2FE58C}"/>
                </a:ext>
              </a:extLst>
            </p:cNvPr>
            <p:cNvSpPr/>
            <p:nvPr/>
          </p:nvSpPr>
          <p:spPr bwMode="auto">
            <a:xfrm>
              <a:off x="3917853" y="4583722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7" name="楕円 36">
              <a:extLst>
                <a:ext uri="{FF2B5EF4-FFF2-40B4-BE49-F238E27FC236}">
                  <a16:creationId xmlns:a16="http://schemas.microsoft.com/office/drawing/2014/main" id="{F5DE5446-744A-4240-88A8-7BDC6BC710E0}"/>
                </a:ext>
              </a:extLst>
            </p:cNvPr>
            <p:cNvSpPr/>
            <p:nvPr/>
          </p:nvSpPr>
          <p:spPr bwMode="auto">
            <a:xfrm>
              <a:off x="4778326" y="4583722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8" name="楕円 37">
              <a:extLst>
                <a:ext uri="{FF2B5EF4-FFF2-40B4-BE49-F238E27FC236}">
                  <a16:creationId xmlns:a16="http://schemas.microsoft.com/office/drawing/2014/main" id="{C8FF4B94-0C20-4121-A575-378B42060DA5}"/>
                </a:ext>
              </a:extLst>
            </p:cNvPr>
            <p:cNvSpPr/>
            <p:nvPr/>
          </p:nvSpPr>
          <p:spPr bwMode="auto">
            <a:xfrm>
              <a:off x="3917853" y="5416060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9" name="楕円 38">
              <a:extLst>
                <a:ext uri="{FF2B5EF4-FFF2-40B4-BE49-F238E27FC236}">
                  <a16:creationId xmlns:a16="http://schemas.microsoft.com/office/drawing/2014/main" id="{57A26BAD-E789-4FEE-AF4A-425BE5107846}"/>
                </a:ext>
              </a:extLst>
            </p:cNvPr>
            <p:cNvSpPr/>
            <p:nvPr/>
          </p:nvSpPr>
          <p:spPr bwMode="auto">
            <a:xfrm>
              <a:off x="4778326" y="5416060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0" name="楕円 39">
              <a:extLst>
                <a:ext uri="{FF2B5EF4-FFF2-40B4-BE49-F238E27FC236}">
                  <a16:creationId xmlns:a16="http://schemas.microsoft.com/office/drawing/2014/main" id="{136506CC-CE9D-4DB7-A495-D43271924DDF}"/>
                </a:ext>
              </a:extLst>
            </p:cNvPr>
            <p:cNvSpPr/>
            <p:nvPr/>
          </p:nvSpPr>
          <p:spPr bwMode="auto">
            <a:xfrm>
              <a:off x="5664592" y="123092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1" name="楕円 40">
              <a:extLst>
                <a:ext uri="{FF2B5EF4-FFF2-40B4-BE49-F238E27FC236}">
                  <a16:creationId xmlns:a16="http://schemas.microsoft.com/office/drawing/2014/main" id="{5DBDEE00-8D14-43D9-BE46-2633F739D6E4}"/>
                </a:ext>
              </a:extLst>
            </p:cNvPr>
            <p:cNvSpPr/>
            <p:nvPr/>
          </p:nvSpPr>
          <p:spPr bwMode="auto">
            <a:xfrm>
              <a:off x="6525065" y="123092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2" name="楕円 41">
              <a:extLst>
                <a:ext uri="{FF2B5EF4-FFF2-40B4-BE49-F238E27FC236}">
                  <a16:creationId xmlns:a16="http://schemas.microsoft.com/office/drawing/2014/main" id="{B99051B6-78E6-4942-BF1B-D5AD31FAF9A8}"/>
                </a:ext>
              </a:extLst>
            </p:cNvPr>
            <p:cNvSpPr/>
            <p:nvPr/>
          </p:nvSpPr>
          <p:spPr bwMode="auto">
            <a:xfrm>
              <a:off x="5664592" y="2063261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3" name="楕円 42">
              <a:extLst>
                <a:ext uri="{FF2B5EF4-FFF2-40B4-BE49-F238E27FC236}">
                  <a16:creationId xmlns:a16="http://schemas.microsoft.com/office/drawing/2014/main" id="{83762C79-1EC5-4270-BBA1-3A366BE50134}"/>
                </a:ext>
              </a:extLst>
            </p:cNvPr>
            <p:cNvSpPr/>
            <p:nvPr/>
          </p:nvSpPr>
          <p:spPr bwMode="auto">
            <a:xfrm>
              <a:off x="6525065" y="2063261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4" name="楕円 43">
              <a:extLst>
                <a:ext uri="{FF2B5EF4-FFF2-40B4-BE49-F238E27FC236}">
                  <a16:creationId xmlns:a16="http://schemas.microsoft.com/office/drawing/2014/main" id="{25C27E83-7FF3-495B-9FC5-79C69531689B}"/>
                </a:ext>
              </a:extLst>
            </p:cNvPr>
            <p:cNvSpPr/>
            <p:nvPr/>
          </p:nvSpPr>
          <p:spPr bwMode="auto">
            <a:xfrm>
              <a:off x="5664592" y="2919046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5" name="楕円 44">
              <a:extLst>
                <a:ext uri="{FF2B5EF4-FFF2-40B4-BE49-F238E27FC236}">
                  <a16:creationId xmlns:a16="http://schemas.microsoft.com/office/drawing/2014/main" id="{CA79B03F-EF68-4377-AB9D-6B550108146C}"/>
                </a:ext>
              </a:extLst>
            </p:cNvPr>
            <p:cNvSpPr/>
            <p:nvPr/>
          </p:nvSpPr>
          <p:spPr bwMode="auto">
            <a:xfrm>
              <a:off x="6525065" y="2919046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6" name="楕円 45">
              <a:extLst>
                <a:ext uri="{FF2B5EF4-FFF2-40B4-BE49-F238E27FC236}">
                  <a16:creationId xmlns:a16="http://schemas.microsoft.com/office/drawing/2014/main" id="{FF7A2E3D-8D14-48FA-ABDB-5D04C0A6D746}"/>
                </a:ext>
              </a:extLst>
            </p:cNvPr>
            <p:cNvSpPr/>
            <p:nvPr/>
          </p:nvSpPr>
          <p:spPr bwMode="auto">
            <a:xfrm>
              <a:off x="5664592" y="375138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7" name="楕円 46">
              <a:extLst>
                <a:ext uri="{FF2B5EF4-FFF2-40B4-BE49-F238E27FC236}">
                  <a16:creationId xmlns:a16="http://schemas.microsoft.com/office/drawing/2014/main" id="{3B28AB84-F316-4145-9A3B-8182EF696524}"/>
                </a:ext>
              </a:extLst>
            </p:cNvPr>
            <p:cNvSpPr/>
            <p:nvPr/>
          </p:nvSpPr>
          <p:spPr bwMode="auto">
            <a:xfrm>
              <a:off x="6525065" y="375138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8" name="楕円 47">
              <a:extLst>
                <a:ext uri="{FF2B5EF4-FFF2-40B4-BE49-F238E27FC236}">
                  <a16:creationId xmlns:a16="http://schemas.microsoft.com/office/drawing/2014/main" id="{7EC961FE-0B09-4430-9165-0EBF85F2DE76}"/>
                </a:ext>
              </a:extLst>
            </p:cNvPr>
            <p:cNvSpPr/>
            <p:nvPr/>
          </p:nvSpPr>
          <p:spPr bwMode="auto">
            <a:xfrm>
              <a:off x="5664592" y="4583722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9" name="楕円 48">
              <a:extLst>
                <a:ext uri="{FF2B5EF4-FFF2-40B4-BE49-F238E27FC236}">
                  <a16:creationId xmlns:a16="http://schemas.microsoft.com/office/drawing/2014/main" id="{BB093772-4689-4FE0-8A02-6987915FFA1D}"/>
                </a:ext>
              </a:extLst>
            </p:cNvPr>
            <p:cNvSpPr/>
            <p:nvPr/>
          </p:nvSpPr>
          <p:spPr bwMode="auto">
            <a:xfrm>
              <a:off x="6525065" y="4583722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0" name="楕円 49">
              <a:extLst>
                <a:ext uri="{FF2B5EF4-FFF2-40B4-BE49-F238E27FC236}">
                  <a16:creationId xmlns:a16="http://schemas.microsoft.com/office/drawing/2014/main" id="{BF49E5E9-DBE4-4C91-A5AB-BAEA9F91435E}"/>
                </a:ext>
              </a:extLst>
            </p:cNvPr>
            <p:cNvSpPr/>
            <p:nvPr/>
          </p:nvSpPr>
          <p:spPr bwMode="auto">
            <a:xfrm>
              <a:off x="5664592" y="5416060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1" name="楕円 50">
              <a:extLst>
                <a:ext uri="{FF2B5EF4-FFF2-40B4-BE49-F238E27FC236}">
                  <a16:creationId xmlns:a16="http://schemas.microsoft.com/office/drawing/2014/main" id="{1AB3256B-47BB-43D6-943C-14C9A73DA3B1}"/>
                </a:ext>
              </a:extLst>
            </p:cNvPr>
            <p:cNvSpPr/>
            <p:nvPr/>
          </p:nvSpPr>
          <p:spPr bwMode="auto">
            <a:xfrm>
              <a:off x="6525065" y="5416060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2" name="楕円 51">
              <a:extLst>
                <a:ext uri="{FF2B5EF4-FFF2-40B4-BE49-F238E27FC236}">
                  <a16:creationId xmlns:a16="http://schemas.microsoft.com/office/drawing/2014/main" id="{6F2E17FD-393E-4DA6-BB84-15399BD2AFB5}"/>
                </a:ext>
              </a:extLst>
            </p:cNvPr>
            <p:cNvSpPr/>
            <p:nvPr/>
          </p:nvSpPr>
          <p:spPr bwMode="auto">
            <a:xfrm>
              <a:off x="7408986" y="123092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3" name="楕円 52">
              <a:extLst>
                <a:ext uri="{FF2B5EF4-FFF2-40B4-BE49-F238E27FC236}">
                  <a16:creationId xmlns:a16="http://schemas.microsoft.com/office/drawing/2014/main" id="{B4F662C8-31C5-4A88-9101-0BA5F400D553}"/>
                </a:ext>
              </a:extLst>
            </p:cNvPr>
            <p:cNvSpPr/>
            <p:nvPr/>
          </p:nvSpPr>
          <p:spPr bwMode="auto">
            <a:xfrm>
              <a:off x="8269459" y="123092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4" name="楕円 53">
              <a:extLst>
                <a:ext uri="{FF2B5EF4-FFF2-40B4-BE49-F238E27FC236}">
                  <a16:creationId xmlns:a16="http://schemas.microsoft.com/office/drawing/2014/main" id="{9C0286E6-0615-4211-842F-14539BCD3D64}"/>
                </a:ext>
              </a:extLst>
            </p:cNvPr>
            <p:cNvSpPr/>
            <p:nvPr/>
          </p:nvSpPr>
          <p:spPr bwMode="auto">
            <a:xfrm>
              <a:off x="7408986" y="2063261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5" name="楕円 54">
              <a:extLst>
                <a:ext uri="{FF2B5EF4-FFF2-40B4-BE49-F238E27FC236}">
                  <a16:creationId xmlns:a16="http://schemas.microsoft.com/office/drawing/2014/main" id="{FA65F84B-C0EB-4C61-AF6E-938B126E4E94}"/>
                </a:ext>
              </a:extLst>
            </p:cNvPr>
            <p:cNvSpPr/>
            <p:nvPr/>
          </p:nvSpPr>
          <p:spPr bwMode="auto">
            <a:xfrm>
              <a:off x="8269459" y="2063261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6" name="楕円 55">
              <a:extLst>
                <a:ext uri="{FF2B5EF4-FFF2-40B4-BE49-F238E27FC236}">
                  <a16:creationId xmlns:a16="http://schemas.microsoft.com/office/drawing/2014/main" id="{9C8A73D9-C036-4826-892D-C1BB2BB6867F}"/>
                </a:ext>
              </a:extLst>
            </p:cNvPr>
            <p:cNvSpPr/>
            <p:nvPr/>
          </p:nvSpPr>
          <p:spPr bwMode="auto">
            <a:xfrm>
              <a:off x="7408986" y="2919046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7" name="楕円 56">
              <a:extLst>
                <a:ext uri="{FF2B5EF4-FFF2-40B4-BE49-F238E27FC236}">
                  <a16:creationId xmlns:a16="http://schemas.microsoft.com/office/drawing/2014/main" id="{FC6AE8A8-DB87-4CBD-BA65-8AA1CFBDA5EE}"/>
                </a:ext>
              </a:extLst>
            </p:cNvPr>
            <p:cNvSpPr/>
            <p:nvPr/>
          </p:nvSpPr>
          <p:spPr bwMode="auto">
            <a:xfrm>
              <a:off x="8269459" y="2919046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8" name="楕円 57">
              <a:extLst>
                <a:ext uri="{FF2B5EF4-FFF2-40B4-BE49-F238E27FC236}">
                  <a16:creationId xmlns:a16="http://schemas.microsoft.com/office/drawing/2014/main" id="{31B5F82D-908A-43A6-9FDB-5050B0451924}"/>
                </a:ext>
              </a:extLst>
            </p:cNvPr>
            <p:cNvSpPr/>
            <p:nvPr/>
          </p:nvSpPr>
          <p:spPr bwMode="auto">
            <a:xfrm>
              <a:off x="7408986" y="375138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9" name="楕円 58">
              <a:extLst>
                <a:ext uri="{FF2B5EF4-FFF2-40B4-BE49-F238E27FC236}">
                  <a16:creationId xmlns:a16="http://schemas.microsoft.com/office/drawing/2014/main" id="{1C1AB12D-1B08-410D-862B-B0578BA3E033}"/>
                </a:ext>
              </a:extLst>
            </p:cNvPr>
            <p:cNvSpPr/>
            <p:nvPr/>
          </p:nvSpPr>
          <p:spPr bwMode="auto">
            <a:xfrm>
              <a:off x="8269459" y="375138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0" name="楕円 59">
              <a:extLst>
                <a:ext uri="{FF2B5EF4-FFF2-40B4-BE49-F238E27FC236}">
                  <a16:creationId xmlns:a16="http://schemas.microsoft.com/office/drawing/2014/main" id="{5739A3CB-BE3D-458F-A73A-606C9F3A0543}"/>
                </a:ext>
              </a:extLst>
            </p:cNvPr>
            <p:cNvSpPr/>
            <p:nvPr/>
          </p:nvSpPr>
          <p:spPr bwMode="auto">
            <a:xfrm>
              <a:off x="7408986" y="4583722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1" name="楕円 60">
              <a:extLst>
                <a:ext uri="{FF2B5EF4-FFF2-40B4-BE49-F238E27FC236}">
                  <a16:creationId xmlns:a16="http://schemas.microsoft.com/office/drawing/2014/main" id="{598C98AE-DE74-450B-AEF3-91C4B7E4F96A}"/>
                </a:ext>
              </a:extLst>
            </p:cNvPr>
            <p:cNvSpPr/>
            <p:nvPr/>
          </p:nvSpPr>
          <p:spPr bwMode="auto">
            <a:xfrm>
              <a:off x="8269459" y="4583722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2" name="楕円 61">
              <a:extLst>
                <a:ext uri="{FF2B5EF4-FFF2-40B4-BE49-F238E27FC236}">
                  <a16:creationId xmlns:a16="http://schemas.microsoft.com/office/drawing/2014/main" id="{B8052936-E271-4873-AB41-5BA4E10ECEA6}"/>
                </a:ext>
              </a:extLst>
            </p:cNvPr>
            <p:cNvSpPr/>
            <p:nvPr/>
          </p:nvSpPr>
          <p:spPr bwMode="auto">
            <a:xfrm>
              <a:off x="7408986" y="5416060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" name="楕円 62">
              <a:extLst>
                <a:ext uri="{FF2B5EF4-FFF2-40B4-BE49-F238E27FC236}">
                  <a16:creationId xmlns:a16="http://schemas.microsoft.com/office/drawing/2014/main" id="{949A8830-1722-4BF8-9A18-BDB47ECDB2E0}"/>
                </a:ext>
              </a:extLst>
            </p:cNvPr>
            <p:cNvSpPr/>
            <p:nvPr/>
          </p:nvSpPr>
          <p:spPr bwMode="auto">
            <a:xfrm>
              <a:off x="8269459" y="5416060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4" name="楕円 63">
              <a:extLst>
                <a:ext uri="{FF2B5EF4-FFF2-40B4-BE49-F238E27FC236}">
                  <a16:creationId xmlns:a16="http://schemas.microsoft.com/office/drawing/2014/main" id="{56D52E3C-F8F1-4243-9C8F-A6DED6D29076}"/>
                </a:ext>
              </a:extLst>
            </p:cNvPr>
            <p:cNvSpPr/>
            <p:nvPr/>
          </p:nvSpPr>
          <p:spPr bwMode="auto">
            <a:xfrm>
              <a:off x="9155724" y="123092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5" name="楕円 64">
              <a:extLst>
                <a:ext uri="{FF2B5EF4-FFF2-40B4-BE49-F238E27FC236}">
                  <a16:creationId xmlns:a16="http://schemas.microsoft.com/office/drawing/2014/main" id="{4432220B-3984-4B84-8245-F5DF8591FB0C}"/>
                </a:ext>
              </a:extLst>
            </p:cNvPr>
            <p:cNvSpPr/>
            <p:nvPr/>
          </p:nvSpPr>
          <p:spPr bwMode="auto">
            <a:xfrm>
              <a:off x="10016199" y="123092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6" name="楕円 65">
              <a:extLst>
                <a:ext uri="{FF2B5EF4-FFF2-40B4-BE49-F238E27FC236}">
                  <a16:creationId xmlns:a16="http://schemas.microsoft.com/office/drawing/2014/main" id="{991EDC6C-CBD4-4CCC-BE99-8D5024640E75}"/>
                </a:ext>
              </a:extLst>
            </p:cNvPr>
            <p:cNvSpPr/>
            <p:nvPr/>
          </p:nvSpPr>
          <p:spPr bwMode="auto">
            <a:xfrm>
              <a:off x="9155724" y="2063261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7" name="楕円 66">
              <a:extLst>
                <a:ext uri="{FF2B5EF4-FFF2-40B4-BE49-F238E27FC236}">
                  <a16:creationId xmlns:a16="http://schemas.microsoft.com/office/drawing/2014/main" id="{01EEB983-FB66-43D9-97CD-71E1D86FD3CE}"/>
                </a:ext>
              </a:extLst>
            </p:cNvPr>
            <p:cNvSpPr/>
            <p:nvPr/>
          </p:nvSpPr>
          <p:spPr bwMode="auto">
            <a:xfrm>
              <a:off x="10016199" y="2063261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8" name="楕円 67">
              <a:extLst>
                <a:ext uri="{FF2B5EF4-FFF2-40B4-BE49-F238E27FC236}">
                  <a16:creationId xmlns:a16="http://schemas.microsoft.com/office/drawing/2014/main" id="{4236FCEB-C2E9-4034-A525-A4E3FDD0BF47}"/>
                </a:ext>
              </a:extLst>
            </p:cNvPr>
            <p:cNvSpPr/>
            <p:nvPr/>
          </p:nvSpPr>
          <p:spPr bwMode="auto">
            <a:xfrm>
              <a:off x="9155724" y="2919046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9" name="楕円 68">
              <a:extLst>
                <a:ext uri="{FF2B5EF4-FFF2-40B4-BE49-F238E27FC236}">
                  <a16:creationId xmlns:a16="http://schemas.microsoft.com/office/drawing/2014/main" id="{9A84AE89-6BF8-4539-B4F8-CDD81FAFA3F7}"/>
                </a:ext>
              </a:extLst>
            </p:cNvPr>
            <p:cNvSpPr/>
            <p:nvPr/>
          </p:nvSpPr>
          <p:spPr bwMode="auto">
            <a:xfrm>
              <a:off x="10016199" y="2919046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0" name="楕円 69">
              <a:extLst>
                <a:ext uri="{FF2B5EF4-FFF2-40B4-BE49-F238E27FC236}">
                  <a16:creationId xmlns:a16="http://schemas.microsoft.com/office/drawing/2014/main" id="{49C8303E-7B44-4A17-90E4-65CBFC496F21}"/>
                </a:ext>
              </a:extLst>
            </p:cNvPr>
            <p:cNvSpPr/>
            <p:nvPr/>
          </p:nvSpPr>
          <p:spPr bwMode="auto">
            <a:xfrm>
              <a:off x="9155724" y="375138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1" name="楕円 70">
              <a:extLst>
                <a:ext uri="{FF2B5EF4-FFF2-40B4-BE49-F238E27FC236}">
                  <a16:creationId xmlns:a16="http://schemas.microsoft.com/office/drawing/2014/main" id="{AEBA4636-3417-4FE7-AAFB-BF2C06E4CD98}"/>
                </a:ext>
              </a:extLst>
            </p:cNvPr>
            <p:cNvSpPr/>
            <p:nvPr/>
          </p:nvSpPr>
          <p:spPr bwMode="auto">
            <a:xfrm>
              <a:off x="10016199" y="375138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2" name="楕円 71">
              <a:extLst>
                <a:ext uri="{FF2B5EF4-FFF2-40B4-BE49-F238E27FC236}">
                  <a16:creationId xmlns:a16="http://schemas.microsoft.com/office/drawing/2014/main" id="{AB182029-11DD-4BFE-BDEA-98C8CE228AEC}"/>
                </a:ext>
              </a:extLst>
            </p:cNvPr>
            <p:cNvSpPr/>
            <p:nvPr/>
          </p:nvSpPr>
          <p:spPr bwMode="auto">
            <a:xfrm>
              <a:off x="9155724" y="4583722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3" name="楕円 72">
              <a:extLst>
                <a:ext uri="{FF2B5EF4-FFF2-40B4-BE49-F238E27FC236}">
                  <a16:creationId xmlns:a16="http://schemas.microsoft.com/office/drawing/2014/main" id="{915A163A-8CB4-4092-B377-33CF5FDF8051}"/>
                </a:ext>
              </a:extLst>
            </p:cNvPr>
            <p:cNvSpPr/>
            <p:nvPr/>
          </p:nvSpPr>
          <p:spPr bwMode="auto">
            <a:xfrm>
              <a:off x="10016199" y="4583722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4" name="楕円 73">
              <a:extLst>
                <a:ext uri="{FF2B5EF4-FFF2-40B4-BE49-F238E27FC236}">
                  <a16:creationId xmlns:a16="http://schemas.microsoft.com/office/drawing/2014/main" id="{D4910BF3-A9FB-47EA-B7E9-1FC15C1D7D86}"/>
                </a:ext>
              </a:extLst>
            </p:cNvPr>
            <p:cNvSpPr/>
            <p:nvPr/>
          </p:nvSpPr>
          <p:spPr bwMode="auto">
            <a:xfrm>
              <a:off x="9155724" y="5416060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5" name="楕円 74">
              <a:extLst>
                <a:ext uri="{FF2B5EF4-FFF2-40B4-BE49-F238E27FC236}">
                  <a16:creationId xmlns:a16="http://schemas.microsoft.com/office/drawing/2014/main" id="{7AFD3065-749C-45E2-B8E4-3CB162FE81D4}"/>
                </a:ext>
              </a:extLst>
            </p:cNvPr>
            <p:cNvSpPr/>
            <p:nvPr/>
          </p:nvSpPr>
          <p:spPr bwMode="auto">
            <a:xfrm>
              <a:off x="10016199" y="5416060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6" name="楕円 75">
              <a:extLst>
                <a:ext uri="{FF2B5EF4-FFF2-40B4-BE49-F238E27FC236}">
                  <a16:creationId xmlns:a16="http://schemas.microsoft.com/office/drawing/2014/main" id="{CF9C1789-D164-48FD-B02D-07033C1B87A0}"/>
                </a:ext>
              </a:extLst>
            </p:cNvPr>
            <p:cNvSpPr/>
            <p:nvPr/>
          </p:nvSpPr>
          <p:spPr bwMode="auto">
            <a:xfrm>
              <a:off x="10876674" y="123092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7" name="楕円 76">
              <a:extLst>
                <a:ext uri="{FF2B5EF4-FFF2-40B4-BE49-F238E27FC236}">
                  <a16:creationId xmlns:a16="http://schemas.microsoft.com/office/drawing/2014/main" id="{709B7B50-0AE9-43D0-97A4-BFACEAD401B8}"/>
                </a:ext>
              </a:extLst>
            </p:cNvPr>
            <p:cNvSpPr/>
            <p:nvPr/>
          </p:nvSpPr>
          <p:spPr bwMode="auto">
            <a:xfrm>
              <a:off x="10876674" y="2063261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8" name="楕円 77">
              <a:extLst>
                <a:ext uri="{FF2B5EF4-FFF2-40B4-BE49-F238E27FC236}">
                  <a16:creationId xmlns:a16="http://schemas.microsoft.com/office/drawing/2014/main" id="{93EEB08C-A809-42A5-AB33-2F58E947C987}"/>
                </a:ext>
              </a:extLst>
            </p:cNvPr>
            <p:cNvSpPr/>
            <p:nvPr/>
          </p:nvSpPr>
          <p:spPr bwMode="auto">
            <a:xfrm>
              <a:off x="10876674" y="2919046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9" name="楕円 78">
              <a:extLst>
                <a:ext uri="{FF2B5EF4-FFF2-40B4-BE49-F238E27FC236}">
                  <a16:creationId xmlns:a16="http://schemas.microsoft.com/office/drawing/2014/main" id="{3B536CC0-AF15-40B1-B1EF-C4E6FE53A859}"/>
                </a:ext>
              </a:extLst>
            </p:cNvPr>
            <p:cNvSpPr/>
            <p:nvPr/>
          </p:nvSpPr>
          <p:spPr bwMode="auto">
            <a:xfrm>
              <a:off x="10876674" y="3751384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0" name="楕円 79">
              <a:extLst>
                <a:ext uri="{FF2B5EF4-FFF2-40B4-BE49-F238E27FC236}">
                  <a16:creationId xmlns:a16="http://schemas.microsoft.com/office/drawing/2014/main" id="{F2E58D0C-7AD2-4715-A373-DEFF839FDEF3}"/>
                </a:ext>
              </a:extLst>
            </p:cNvPr>
            <p:cNvSpPr/>
            <p:nvPr/>
          </p:nvSpPr>
          <p:spPr bwMode="auto">
            <a:xfrm>
              <a:off x="10876674" y="4583723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1" name="楕円 80">
              <a:extLst>
                <a:ext uri="{FF2B5EF4-FFF2-40B4-BE49-F238E27FC236}">
                  <a16:creationId xmlns:a16="http://schemas.microsoft.com/office/drawing/2014/main" id="{F5C91105-38E2-42C7-96E3-09C9F31B2BD8}"/>
                </a:ext>
              </a:extLst>
            </p:cNvPr>
            <p:cNvSpPr/>
            <p:nvPr/>
          </p:nvSpPr>
          <p:spPr bwMode="auto">
            <a:xfrm>
              <a:off x="10876674" y="5416060"/>
              <a:ext cx="722142" cy="69400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12" name="グループ化 111">
              <a:extLst>
                <a:ext uri="{FF2B5EF4-FFF2-40B4-BE49-F238E27FC236}">
                  <a16:creationId xmlns:a16="http://schemas.microsoft.com/office/drawing/2014/main" id="{6FD13417-CFCE-4F4D-9B59-80D898C4C7AC}"/>
                </a:ext>
              </a:extLst>
            </p:cNvPr>
            <p:cNvGrpSpPr/>
            <p:nvPr/>
          </p:nvGrpSpPr>
          <p:grpSpPr>
            <a:xfrm>
              <a:off x="451338" y="2063261"/>
              <a:ext cx="11148649" cy="3214466"/>
              <a:chOff x="602566" y="2215661"/>
              <a:chExt cx="11148649" cy="3214466"/>
            </a:xfrm>
            <a:solidFill>
              <a:srgbClr val="4188F1"/>
            </a:solidFill>
          </p:grpSpPr>
          <p:sp>
            <p:nvSpPr>
              <p:cNvPr id="99" name="楕円 98">
                <a:extLst>
                  <a:ext uri="{FF2B5EF4-FFF2-40B4-BE49-F238E27FC236}">
                    <a16:creationId xmlns:a16="http://schemas.microsoft.com/office/drawing/2014/main" id="{3A7441F3-A922-4C2D-95B0-EDAE8D9FEE0A}"/>
                  </a:ext>
                </a:extLst>
              </p:cNvPr>
              <p:cNvSpPr/>
              <p:nvPr/>
            </p:nvSpPr>
            <p:spPr bwMode="auto">
              <a:xfrm>
                <a:off x="602566" y="2264898"/>
                <a:ext cx="722142" cy="6940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400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0" name="楕円 99">
                <a:extLst>
                  <a:ext uri="{FF2B5EF4-FFF2-40B4-BE49-F238E27FC236}">
                    <a16:creationId xmlns:a16="http://schemas.microsoft.com/office/drawing/2014/main" id="{953324DD-5A05-4544-9045-DD084D2FFD81}"/>
                  </a:ext>
                </a:extLst>
              </p:cNvPr>
              <p:cNvSpPr/>
              <p:nvPr/>
            </p:nvSpPr>
            <p:spPr bwMode="auto">
              <a:xfrm>
                <a:off x="1463040" y="3953020"/>
                <a:ext cx="722142" cy="6940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400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1" name="楕円 100">
                <a:extLst>
                  <a:ext uri="{FF2B5EF4-FFF2-40B4-BE49-F238E27FC236}">
                    <a16:creationId xmlns:a16="http://schemas.microsoft.com/office/drawing/2014/main" id="{11F6C3F6-5E0B-452E-90B5-ACD14B91A516}"/>
                  </a:ext>
                </a:extLst>
              </p:cNvPr>
              <p:cNvSpPr/>
              <p:nvPr/>
            </p:nvSpPr>
            <p:spPr bwMode="auto">
              <a:xfrm>
                <a:off x="3209779" y="2264898"/>
                <a:ext cx="722142" cy="6940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400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2" name="楕円 101">
                <a:extLst>
                  <a:ext uri="{FF2B5EF4-FFF2-40B4-BE49-F238E27FC236}">
                    <a16:creationId xmlns:a16="http://schemas.microsoft.com/office/drawing/2014/main" id="{FD3E8AEF-0357-4AB4-9E39-10D2896D71A7}"/>
                  </a:ext>
                </a:extLst>
              </p:cNvPr>
              <p:cNvSpPr/>
              <p:nvPr/>
            </p:nvSpPr>
            <p:spPr bwMode="auto">
              <a:xfrm>
                <a:off x="2349305" y="3120682"/>
                <a:ext cx="722142" cy="6940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400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3" name="楕円 102">
                <a:extLst>
                  <a:ext uri="{FF2B5EF4-FFF2-40B4-BE49-F238E27FC236}">
                    <a16:creationId xmlns:a16="http://schemas.microsoft.com/office/drawing/2014/main" id="{CA2378B7-12A6-4C85-8197-ABD5A065E58C}"/>
                  </a:ext>
                </a:extLst>
              </p:cNvPr>
              <p:cNvSpPr/>
              <p:nvPr/>
            </p:nvSpPr>
            <p:spPr bwMode="auto">
              <a:xfrm>
                <a:off x="4070253" y="3071445"/>
                <a:ext cx="722142" cy="6940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400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4" name="楕円 103">
                <a:extLst>
                  <a:ext uri="{FF2B5EF4-FFF2-40B4-BE49-F238E27FC236}">
                    <a16:creationId xmlns:a16="http://schemas.microsoft.com/office/drawing/2014/main" id="{A841CBE2-4861-44E6-B20C-7002E55F8ECE}"/>
                  </a:ext>
                </a:extLst>
              </p:cNvPr>
              <p:cNvSpPr/>
              <p:nvPr/>
            </p:nvSpPr>
            <p:spPr bwMode="auto">
              <a:xfrm>
                <a:off x="4930727" y="3071445"/>
                <a:ext cx="722142" cy="6940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400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5" name="楕円 104">
                <a:extLst>
                  <a:ext uri="{FF2B5EF4-FFF2-40B4-BE49-F238E27FC236}">
                    <a16:creationId xmlns:a16="http://schemas.microsoft.com/office/drawing/2014/main" id="{C0EB4D9A-016E-49F2-AA15-8074A556B13A}"/>
                  </a:ext>
                </a:extLst>
              </p:cNvPr>
              <p:cNvSpPr/>
              <p:nvPr/>
            </p:nvSpPr>
            <p:spPr bwMode="auto">
              <a:xfrm>
                <a:off x="5816992" y="3903783"/>
                <a:ext cx="722142" cy="6940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400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6" name="楕円 105">
                <a:extLst>
                  <a:ext uri="{FF2B5EF4-FFF2-40B4-BE49-F238E27FC236}">
                    <a16:creationId xmlns:a16="http://schemas.microsoft.com/office/drawing/2014/main" id="{2F136B06-C836-4DD7-B3BA-E02F303EF839}"/>
                  </a:ext>
                </a:extLst>
              </p:cNvPr>
              <p:cNvSpPr/>
              <p:nvPr/>
            </p:nvSpPr>
            <p:spPr bwMode="auto">
              <a:xfrm>
                <a:off x="6677466" y="4736121"/>
                <a:ext cx="722142" cy="6940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400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7" name="楕円 106">
                <a:extLst>
                  <a:ext uri="{FF2B5EF4-FFF2-40B4-BE49-F238E27FC236}">
                    <a16:creationId xmlns:a16="http://schemas.microsoft.com/office/drawing/2014/main" id="{4C6A9261-1D30-4642-B8AC-16F4CDA34A51}"/>
                  </a:ext>
                </a:extLst>
              </p:cNvPr>
              <p:cNvSpPr/>
              <p:nvPr/>
            </p:nvSpPr>
            <p:spPr bwMode="auto">
              <a:xfrm>
                <a:off x="8421860" y="3071445"/>
                <a:ext cx="722142" cy="6940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400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8" name="楕円 107">
                <a:extLst>
                  <a:ext uri="{FF2B5EF4-FFF2-40B4-BE49-F238E27FC236}">
                    <a16:creationId xmlns:a16="http://schemas.microsoft.com/office/drawing/2014/main" id="{81A81688-F532-4526-8AFB-84840E5C3BD4}"/>
                  </a:ext>
                </a:extLst>
              </p:cNvPr>
              <p:cNvSpPr/>
              <p:nvPr/>
            </p:nvSpPr>
            <p:spPr bwMode="auto">
              <a:xfrm>
                <a:off x="7561386" y="3903783"/>
                <a:ext cx="722142" cy="6940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400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9" name="楕円 108">
                <a:extLst>
                  <a:ext uri="{FF2B5EF4-FFF2-40B4-BE49-F238E27FC236}">
                    <a16:creationId xmlns:a16="http://schemas.microsoft.com/office/drawing/2014/main" id="{41041B6C-EEA7-4734-A60A-1F2B96BC6393}"/>
                  </a:ext>
                </a:extLst>
              </p:cNvPr>
              <p:cNvSpPr/>
              <p:nvPr/>
            </p:nvSpPr>
            <p:spPr bwMode="auto">
              <a:xfrm>
                <a:off x="9308125" y="2215661"/>
                <a:ext cx="722142" cy="6940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400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0" name="楕円 109">
                <a:extLst>
                  <a:ext uri="{FF2B5EF4-FFF2-40B4-BE49-F238E27FC236}">
                    <a16:creationId xmlns:a16="http://schemas.microsoft.com/office/drawing/2014/main" id="{5DB84FD5-C6F3-42A0-BF1E-F2394152F2C4}"/>
                  </a:ext>
                </a:extLst>
              </p:cNvPr>
              <p:cNvSpPr/>
              <p:nvPr/>
            </p:nvSpPr>
            <p:spPr bwMode="auto">
              <a:xfrm>
                <a:off x="10168599" y="3071445"/>
                <a:ext cx="722142" cy="6940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400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1" name="楕円 110">
                <a:extLst>
                  <a:ext uri="{FF2B5EF4-FFF2-40B4-BE49-F238E27FC236}">
                    <a16:creationId xmlns:a16="http://schemas.microsoft.com/office/drawing/2014/main" id="{DA5724E0-E210-4FB4-902A-FF05DBC65BBB}"/>
                  </a:ext>
                </a:extLst>
              </p:cNvPr>
              <p:cNvSpPr/>
              <p:nvPr/>
            </p:nvSpPr>
            <p:spPr bwMode="auto">
              <a:xfrm>
                <a:off x="11029073" y="3903783"/>
                <a:ext cx="722142" cy="6940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400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146" name="グループ化 145">
              <a:extLst>
                <a:ext uri="{FF2B5EF4-FFF2-40B4-BE49-F238E27FC236}">
                  <a16:creationId xmlns:a16="http://schemas.microsoft.com/office/drawing/2014/main" id="{87FDC789-9C0D-4070-9AFB-FD9C288A040A}"/>
                </a:ext>
              </a:extLst>
            </p:cNvPr>
            <p:cNvGrpSpPr/>
            <p:nvPr/>
          </p:nvGrpSpPr>
          <p:grpSpPr>
            <a:xfrm>
              <a:off x="811236" y="2410265"/>
              <a:ext cx="10461749" cy="2515772"/>
              <a:chOff x="811237" y="2410264"/>
              <a:chExt cx="10461749" cy="2515772"/>
            </a:xfrm>
            <a:solidFill>
              <a:schemeClr val="bg1">
                <a:lumMod val="75000"/>
              </a:schemeClr>
            </a:solidFill>
          </p:grpSpPr>
          <p:cxnSp>
            <p:nvCxnSpPr>
              <p:cNvPr id="114" name="直線コネクタ 113">
                <a:extLst>
                  <a:ext uri="{FF2B5EF4-FFF2-40B4-BE49-F238E27FC236}">
                    <a16:creationId xmlns:a16="http://schemas.microsoft.com/office/drawing/2014/main" id="{C708D1D4-0B1D-4FE6-92EF-7EE1506EBCE7}"/>
                  </a:ext>
                </a:extLst>
              </p:cNvPr>
              <p:cNvCxnSpPr/>
              <p:nvPr/>
            </p:nvCxnSpPr>
            <p:spPr>
              <a:xfrm>
                <a:off x="811237" y="2459501"/>
                <a:ext cx="860474" cy="1688122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線コネクタ 114">
                <a:extLst>
                  <a:ext uri="{FF2B5EF4-FFF2-40B4-BE49-F238E27FC236}">
                    <a16:creationId xmlns:a16="http://schemas.microsoft.com/office/drawing/2014/main" id="{E207966E-DEAC-41A6-A2C3-F050A07685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71125" y="3315285"/>
                <a:ext cx="886851" cy="832338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線コネクタ 117">
                <a:extLst>
                  <a:ext uri="{FF2B5EF4-FFF2-40B4-BE49-F238E27FC236}">
                    <a16:creationId xmlns:a16="http://schemas.microsoft.com/office/drawing/2014/main" id="{0A2DCA32-F4AE-44D9-A515-9D34A8A575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57976" y="2459501"/>
                <a:ext cx="859008" cy="855784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コネクタ 120">
                <a:extLst>
                  <a:ext uri="{FF2B5EF4-FFF2-40B4-BE49-F238E27FC236}">
                    <a16:creationId xmlns:a16="http://schemas.microsoft.com/office/drawing/2014/main" id="{CBA457E4-0A7F-430B-8333-15613E8078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30320" y="2447779"/>
                <a:ext cx="848604" cy="818269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線コネクタ 123">
                <a:extLst>
                  <a:ext uri="{FF2B5EF4-FFF2-40B4-BE49-F238E27FC236}">
                    <a16:creationId xmlns:a16="http://schemas.microsoft.com/office/drawing/2014/main" id="{D7C1AD3B-E85E-4FC3-A015-5F0A4DD8FC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78924" y="3266048"/>
                <a:ext cx="878132" cy="14070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線コネクタ 126">
                <a:extLst>
                  <a:ext uri="{FF2B5EF4-FFF2-40B4-BE49-F238E27FC236}">
                    <a16:creationId xmlns:a16="http://schemas.microsoft.com/office/drawing/2014/main" id="{3B275D72-C79A-4D08-85FB-F10F782D1F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55188" y="3280118"/>
                <a:ext cx="870475" cy="841714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コネクタ 129">
                <a:extLst>
                  <a:ext uri="{FF2B5EF4-FFF2-40B4-BE49-F238E27FC236}">
                    <a16:creationId xmlns:a16="http://schemas.microsoft.com/office/drawing/2014/main" id="{3A7C3868-D6BC-4C11-852D-D2B01FE4D4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025663" y="4135902"/>
                <a:ext cx="860474" cy="790134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線コネクタ 132">
                <a:extLst>
                  <a:ext uri="{FF2B5EF4-FFF2-40B4-BE49-F238E27FC236}">
                    <a16:creationId xmlns:a16="http://schemas.microsoft.com/office/drawing/2014/main" id="{24CFA6C7-10A1-4332-927D-AE745135ED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10756" y="4119488"/>
                <a:ext cx="858715" cy="806548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コネクタ 135">
                <a:extLst>
                  <a:ext uri="{FF2B5EF4-FFF2-40B4-BE49-F238E27FC236}">
                    <a16:creationId xmlns:a16="http://schemas.microsoft.com/office/drawing/2014/main" id="{9F23666B-DE29-490E-A73B-1F9BF7D568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84197" y="3303562"/>
                <a:ext cx="858715" cy="806548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線コネクタ 136">
                <a:extLst>
                  <a:ext uri="{FF2B5EF4-FFF2-40B4-BE49-F238E27FC236}">
                    <a16:creationId xmlns:a16="http://schemas.microsoft.com/office/drawing/2014/main" id="{FAE8CAE6-58DD-4FEE-BCF7-A6EB416B58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8118" y="2410264"/>
                <a:ext cx="859301" cy="893298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線コネクタ 140">
                <a:extLst>
                  <a:ext uri="{FF2B5EF4-FFF2-40B4-BE49-F238E27FC236}">
                    <a16:creationId xmlns:a16="http://schemas.microsoft.com/office/drawing/2014/main" id="{B34164DD-35FF-494F-A2D6-210E360A68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46250" y="2410264"/>
                <a:ext cx="831020" cy="893298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線コネクタ 143">
                <a:extLst>
                  <a:ext uri="{FF2B5EF4-FFF2-40B4-BE49-F238E27FC236}">
                    <a16:creationId xmlns:a16="http://schemas.microsoft.com/office/drawing/2014/main" id="{5F5F3EEE-A9C3-445A-9324-8A391395F1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85763" y="3303562"/>
                <a:ext cx="887223" cy="844061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0" name="タイトル 149">
            <a:extLst>
              <a:ext uri="{FF2B5EF4-FFF2-40B4-BE49-F238E27FC236}">
                <a16:creationId xmlns:a16="http://schemas.microsoft.com/office/drawing/2014/main" id="{72EAC014-FDF2-411E-A964-92AFB31A0D6F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-11113" y="-438150"/>
            <a:ext cx="12203113" cy="2112963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Segoe UI" pitchFamily="34" charset="0"/>
              </a:rPr>
              <a:t>一発</a:t>
            </a:r>
            <a:r>
              <a:rPr kumimoji="1" lang="en-US" altLang="ja-JP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Segoe UI" pitchFamily="34" charset="0"/>
              </a:rPr>
              <a:t>OK</a:t>
            </a: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Segoe UI" pitchFamily="34" charset="0"/>
              </a:rPr>
              <a:t>の企画書を分析、共通点を抽出</a:t>
            </a: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82DEB1B5-E5A9-344C-7D2A-9446F63E0AC5}"/>
              </a:ext>
            </a:extLst>
          </p:cNvPr>
          <p:cNvSpPr/>
          <p:nvPr/>
        </p:nvSpPr>
        <p:spPr bwMode="auto">
          <a:xfrm>
            <a:off x="0" y="5345713"/>
            <a:ext cx="12202516" cy="211277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3600" b="1" dirty="0">
                <a:solidFill>
                  <a:sysClr val="windowText" lastClr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Segoe UI" pitchFamily="34" charset="0"/>
              </a:rPr>
              <a:t>2.1</a:t>
            </a:r>
            <a:r>
              <a:rPr lang="ja-JP" altLang="en-US" sz="3600" b="1" dirty="0">
                <a:solidFill>
                  <a:sysClr val="windowText" lastClr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Segoe UI" pitchFamily="34" charset="0"/>
              </a:rPr>
              <a:t>万人の一般社員で再現実験</a:t>
            </a:r>
            <a:endParaRPr lang="en-US" altLang="ja-JP" sz="3600" b="1" dirty="0">
              <a:solidFill>
                <a:sysClr val="windowText" lastClr="000000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Segoe UI" pitchFamily="34" charset="0"/>
            </a:endParaRPr>
          </a:p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Segoe UI" pitchFamily="34" charset="0"/>
              </a:rPr>
              <a:t>成功確率</a:t>
            </a:r>
            <a:r>
              <a:rPr kumimoji="1" lang="en-US" altLang="ja-JP" sz="3200" b="1" i="0" u="none" strike="noStrike" kern="1200" cap="none" spc="0" normalizeH="0" baseline="0" noProof="0" dirty="0">
                <a:ln>
                  <a:noFill/>
                </a:ln>
                <a:solidFill>
                  <a:srgbClr val="0E58C4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Segoe UI" pitchFamily="34" charset="0"/>
              </a:rPr>
              <a:t>+22%</a:t>
            </a: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E58C4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Segoe UI" pitchFamily="34" charset="0"/>
              </a:rPr>
              <a:t>アップ</a:t>
            </a:r>
            <a:endParaRPr kumimoji="1" lang="en-US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0E58C4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Segoe UI" pitchFamily="34" charset="0"/>
            </a:endParaRPr>
          </a:p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3200" b="1" dirty="0">
                <a:solidFill>
                  <a:sysClr val="windowText" lastClr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Segoe UI" pitchFamily="34" charset="0"/>
              </a:rPr>
              <a:t>作成時間</a:t>
            </a:r>
            <a:r>
              <a:rPr lang="en-US" altLang="ja-JP" sz="3200" b="1" dirty="0">
                <a:solidFill>
                  <a:srgbClr val="0E58C4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Segoe UI" pitchFamily="34" charset="0"/>
              </a:rPr>
              <a:t>-20%</a:t>
            </a:r>
            <a:r>
              <a:rPr lang="ja-JP" altLang="en-US" sz="3200" b="1" dirty="0">
                <a:solidFill>
                  <a:srgbClr val="0E58C4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Segoe UI" pitchFamily="34" charset="0"/>
              </a:rPr>
              <a:t>ダウン</a:t>
            </a:r>
            <a:endParaRPr kumimoji="1" lang="en-US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0E58C4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Segoe UI" pitchFamily="34" charset="0"/>
            </a:endParaRPr>
          </a:p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メイリオ"/>
              <a:ea typeface="メイリオ"/>
              <a:cs typeface="Segoe UI" pitchFamily="34" charset="0"/>
            </a:endParaRP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C2D54296-4B09-D2C9-109F-3FDF1AFA0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1132" y="1040304"/>
            <a:ext cx="8300618" cy="3710435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矢印: 下 83">
            <a:extLst>
              <a:ext uri="{FF2B5EF4-FFF2-40B4-BE49-F238E27FC236}">
                <a16:creationId xmlns:a16="http://schemas.microsoft.com/office/drawing/2014/main" id="{0D25E6E4-1E9A-3316-94CC-F78986BDCE0A}"/>
              </a:ext>
            </a:extLst>
          </p:cNvPr>
          <p:cNvSpPr/>
          <p:nvPr/>
        </p:nvSpPr>
        <p:spPr>
          <a:xfrm rot="10800000" flipV="1">
            <a:off x="3967201" y="4593568"/>
            <a:ext cx="4051014" cy="602137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仮説・検証</a:t>
            </a:r>
          </a:p>
        </p:txBody>
      </p:sp>
    </p:spTree>
    <p:extLst>
      <p:ext uri="{BB962C8B-B14F-4D97-AF65-F5344CB8AC3E}">
        <p14:creationId xmlns:p14="http://schemas.microsoft.com/office/powerpoint/2010/main" val="449549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楕円 8">
            <a:extLst>
              <a:ext uri="{FF2B5EF4-FFF2-40B4-BE49-F238E27FC236}">
                <a16:creationId xmlns:a16="http://schemas.microsoft.com/office/drawing/2014/main" id="{86B5D140-AB8E-367E-3ADC-142BD2E32858}"/>
              </a:ext>
            </a:extLst>
          </p:cNvPr>
          <p:cNvSpPr/>
          <p:nvPr/>
        </p:nvSpPr>
        <p:spPr>
          <a:xfrm>
            <a:off x="1196661" y="1659821"/>
            <a:ext cx="4403678" cy="4198961"/>
          </a:xfrm>
          <a:prstGeom prst="ellipse">
            <a:avLst/>
          </a:prstGeom>
          <a:solidFill>
            <a:srgbClr val="0A4090"/>
          </a:solidFill>
          <a:ln w="57150">
            <a:solidFill>
              <a:srgbClr val="3449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企画</a:t>
            </a:r>
            <a:endParaRPr kumimoji="1" lang="en-US" altLang="ja-JP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FCCE81A-51F5-435E-A86E-D9661A329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516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54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そもそも企画書とは</a:t>
            </a:r>
            <a:r>
              <a:rPr kumimoji="1" lang="en-US" altLang="ja-JP" sz="54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…</a:t>
            </a:r>
            <a:endParaRPr kumimoji="1" lang="ja-JP" altLang="en-US" sz="54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7151B0C6-447F-483B-8A91-AF288B9BAD63}"/>
              </a:ext>
            </a:extLst>
          </p:cNvPr>
          <p:cNvSpPr/>
          <p:nvPr/>
        </p:nvSpPr>
        <p:spPr>
          <a:xfrm>
            <a:off x="6803408" y="1659821"/>
            <a:ext cx="4403678" cy="4198961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7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書</a:t>
            </a:r>
            <a:endParaRPr kumimoji="1" lang="en-US" altLang="ja-JP" sz="6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75366BB-334D-4275-AA42-CBB060C7BBE0}"/>
              </a:ext>
            </a:extLst>
          </p:cNvPr>
          <p:cNvSpPr txBox="1"/>
          <p:nvPr/>
        </p:nvSpPr>
        <p:spPr>
          <a:xfrm>
            <a:off x="5506357" y="3036026"/>
            <a:ext cx="13131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Meiryo UI"/>
                <a:cs typeface="+mn-cs"/>
              </a:rPr>
              <a:t>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4F4D5B8-9EDE-426F-9DF5-CC919C15D07E}"/>
              </a:ext>
            </a:extLst>
          </p:cNvPr>
          <p:cNvSpPr txBox="1"/>
          <p:nvPr/>
        </p:nvSpPr>
        <p:spPr>
          <a:xfrm>
            <a:off x="1538953" y="4359765"/>
            <a:ext cx="37753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説明ストーリー</a:t>
            </a:r>
            <a:endParaRPr kumimoji="1" lang="en-US" altLang="ja-JP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16AB449-60BB-47C7-BAF0-7FB02B20D9DC}"/>
              </a:ext>
            </a:extLst>
          </p:cNvPr>
          <p:cNvSpPr txBox="1"/>
          <p:nvPr/>
        </p:nvSpPr>
        <p:spPr>
          <a:xfrm>
            <a:off x="7685567" y="4359765"/>
            <a:ext cx="27494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視覚で伝達</a:t>
            </a:r>
            <a:endParaRPr kumimoji="1" lang="en-US" altLang="ja-JP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11598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CB0F5EF-0C4A-C2C9-ECAC-4650C086F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252330"/>
          </a:xfrm>
          <a:prstGeom prst="rect">
            <a:avLst/>
          </a:prstGeom>
          <a:solidFill>
            <a:srgbClr val="0831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2AC1247-737B-4623-868E-A1064E935E04}"/>
              </a:ext>
            </a:extLst>
          </p:cNvPr>
          <p:cNvSpPr txBox="1"/>
          <p:nvPr/>
        </p:nvSpPr>
        <p:spPr>
          <a:xfrm>
            <a:off x="4401978" y="1578442"/>
            <a:ext cx="7680308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❶</a:t>
            </a: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ACCBF9">
                    <a:lumMod val="50000"/>
                  </a:srgb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疑問</a:t>
            </a: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＝</a:t>
            </a: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私は思った</a:t>
            </a:r>
            <a:endParaRPr kumimoji="1" lang="en-US" altLang="ja-JP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❷ </a:t>
            </a: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ACCBF9">
                    <a:lumMod val="50000"/>
                  </a:srgb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調査</a:t>
            </a: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＝</a:t>
            </a: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私は調べた</a:t>
            </a:r>
            <a:endParaRPr kumimoji="1" lang="en-US" altLang="ja-JP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❸ </a:t>
            </a: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ACCBF9">
                    <a:lumMod val="50000"/>
                  </a:srgb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解釈</a:t>
            </a: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＝</a:t>
            </a: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私はこう捉える</a:t>
            </a:r>
            <a:endParaRPr kumimoji="1" lang="en-US" altLang="ja-JP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❹ </a:t>
            </a: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ACCBF9">
                    <a:lumMod val="50000"/>
                  </a:srgb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本質</a:t>
            </a: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＝</a:t>
            </a: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私はわかった！</a:t>
            </a:r>
            <a:endParaRPr kumimoji="1" lang="en-US" altLang="ja-JP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❺ </a:t>
            </a: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ACCBF9">
                    <a:lumMod val="50000"/>
                  </a:srgb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＝</a:t>
            </a: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だから私はできる！</a:t>
            </a:r>
            <a:endParaRPr kumimoji="1" lang="en-US" altLang="ja-JP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1" name="タイトル 10">
            <a:extLst>
              <a:ext uri="{FF2B5EF4-FFF2-40B4-BE49-F238E27FC236}">
                <a16:creationId xmlns:a16="http://schemas.microsoft.com/office/drawing/2014/main" id="{680309DC-C464-470F-B96D-360ECE3327B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3338"/>
            <a:ext cx="12192000" cy="11079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3</a:t>
            </a:r>
            <a:r>
              <a:rPr kumimoji="1" lang="en-US" altLang="ja-JP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W</a:t>
            </a:r>
            <a:r>
              <a:rPr kumimoji="1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ストーリーで相手と共鳴する</a:t>
            </a:r>
            <a:endParaRPr kumimoji="1" lang="en-US" altLang="ja-JP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" name="左中かっこ 1">
            <a:extLst>
              <a:ext uri="{FF2B5EF4-FFF2-40B4-BE49-F238E27FC236}">
                <a16:creationId xmlns:a16="http://schemas.microsoft.com/office/drawing/2014/main" id="{A87E9665-2F21-43B5-9657-4196D3A48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72776" y="2644456"/>
            <a:ext cx="736144" cy="2471938"/>
          </a:xfrm>
          <a:prstGeom prst="leftBrac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1095A73-77BB-4F01-B4F7-967C784C3F2E}"/>
              </a:ext>
            </a:extLst>
          </p:cNvPr>
          <p:cNvSpPr txBox="1"/>
          <p:nvPr/>
        </p:nvSpPr>
        <p:spPr>
          <a:xfrm>
            <a:off x="1535330" y="1534391"/>
            <a:ext cx="15055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srgbClr val="0E58C4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W</a:t>
            </a:r>
            <a:r>
              <a:rPr kumimoji="1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hy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3DAEE9A-98EF-4EBC-839F-A24F95E65729}"/>
              </a:ext>
            </a:extLst>
          </p:cNvPr>
          <p:cNvSpPr txBox="1"/>
          <p:nvPr/>
        </p:nvSpPr>
        <p:spPr>
          <a:xfrm>
            <a:off x="1535330" y="3303820"/>
            <a:ext cx="1720343" cy="1094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srgbClr val="ACCBF9">
                    <a:lumMod val="50000"/>
                  </a:srgb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W</a:t>
            </a:r>
            <a:r>
              <a:rPr kumimoji="1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hat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C1381CC-189B-4EA3-91C2-EBA23496DDC8}"/>
              </a:ext>
            </a:extLst>
          </p:cNvPr>
          <p:cNvSpPr txBox="1"/>
          <p:nvPr/>
        </p:nvSpPr>
        <p:spPr>
          <a:xfrm>
            <a:off x="1535330" y="5331289"/>
            <a:ext cx="154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How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AEDFB47-58A8-4B59-A067-8A4E20C7E53C}"/>
              </a:ext>
            </a:extLst>
          </p:cNvPr>
          <p:cNvSpPr txBox="1"/>
          <p:nvPr/>
        </p:nvSpPr>
        <p:spPr>
          <a:xfrm>
            <a:off x="989924" y="6097235"/>
            <a:ext cx="44406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→</a:t>
            </a:r>
            <a:r>
              <a:rPr kumimoji="1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srgbClr val="ACCBF9">
                    <a:lumMod val="50000"/>
                  </a:srgb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W</a:t>
            </a:r>
            <a:r>
              <a:rPr kumimoji="1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ow</a:t>
            </a: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E58C4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すげぇ！</a:t>
            </a:r>
            <a:endParaRPr kumimoji="1" lang="en-US" altLang="ja-JP" sz="4800" b="1" i="0" u="none" strike="noStrike" kern="1200" cap="none" spc="0" normalizeH="0" baseline="0" noProof="0" dirty="0">
              <a:ln>
                <a:noFill/>
              </a:ln>
              <a:solidFill>
                <a:srgbClr val="0E58C4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7" name="左中かっこ 6">
            <a:extLst>
              <a:ext uri="{FF2B5EF4-FFF2-40B4-BE49-F238E27FC236}">
                <a16:creationId xmlns:a16="http://schemas.microsoft.com/office/drawing/2014/main" id="{69FC498E-A651-17C5-8E2B-6968797D8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73150" y="1597885"/>
            <a:ext cx="635770" cy="701016"/>
          </a:xfrm>
          <a:prstGeom prst="leftBrac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19" name="左中かっこ 18">
            <a:extLst>
              <a:ext uri="{FF2B5EF4-FFF2-40B4-BE49-F238E27FC236}">
                <a16:creationId xmlns:a16="http://schemas.microsoft.com/office/drawing/2014/main" id="{2F398D78-2C11-1541-8C3D-2E049EA47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92772" y="5480004"/>
            <a:ext cx="612154" cy="682282"/>
          </a:xfrm>
          <a:prstGeom prst="leftBrac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7748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図 34" descr="両手を後ろに回しているビジネスマン">
            <a:extLst>
              <a:ext uri="{FF2B5EF4-FFF2-40B4-BE49-F238E27FC236}">
                <a16:creationId xmlns:a16="http://schemas.microsoft.com/office/drawing/2014/main" id="{EE68D6EF-3CCF-B9D5-AD9F-612AB14887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83794" y="3202417"/>
            <a:ext cx="4095740" cy="4549604"/>
          </a:xfrm>
          <a:prstGeom prst="rect">
            <a:avLst/>
          </a:prstGeom>
        </p:spPr>
      </p:pic>
      <p:sp>
        <p:nvSpPr>
          <p:cNvPr id="39" name="思考の吹き出し: 雲形 38">
            <a:extLst>
              <a:ext uri="{FF2B5EF4-FFF2-40B4-BE49-F238E27FC236}">
                <a16:creationId xmlns:a16="http://schemas.microsoft.com/office/drawing/2014/main" id="{1DF3F19E-513A-1178-28A1-464AEC2FA30D}"/>
              </a:ext>
            </a:extLst>
          </p:cNvPr>
          <p:cNvSpPr/>
          <p:nvPr/>
        </p:nvSpPr>
        <p:spPr>
          <a:xfrm flipH="1">
            <a:off x="41818" y="5065542"/>
            <a:ext cx="4095740" cy="1604809"/>
          </a:xfrm>
          <a:prstGeom prst="cloudCallout">
            <a:avLst>
              <a:gd name="adj1" fmla="val -56066"/>
              <a:gd name="adj2" fmla="val 41584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続きが気になる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AAE7545-A50E-A878-F173-8AC900A27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252330"/>
          </a:xfrm>
          <a:prstGeom prst="rect">
            <a:avLst/>
          </a:prstGeom>
          <a:solidFill>
            <a:srgbClr val="0831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11" name="タイトル 10">
            <a:extLst>
              <a:ext uri="{FF2B5EF4-FFF2-40B4-BE49-F238E27FC236}">
                <a16:creationId xmlns:a16="http://schemas.microsoft.com/office/drawing/2014/main" id="{680309DC-C464-470F-B96D-360ECE3327B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65100"/>
            <a:ext cx="12192000" cy="83099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”</a:t>
            </a:r>
            <a:r>
              <a:rPr kumimoji="1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伝わる</a:t>
            </a:r>
            <a:r>
              <a:rPr kumimoji="1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”</a:t>
            </a:r>
            <a:r>
              <a:rPr kumimoji="1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を目指して相手を動かす</a:t>
            </a:r>
            <a:endParaRPr kumimoji="1" lang="en-US" altLang="ja-JP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3" name="object 16">
            <a:extLst>
              <a:ext uri="{FF2B5EF4-FFF2-40B4-BE49-F238E27FC236}">
                <a16:creationId xmlns:a16="http://schemas.microsoft.com/office/drawing/2014/main" id="{AF6E2051-DB66-2889-3404-D85FDF015A45}"/>
              </a:ext>
            </a:extLst>
          </p:cNvPr>
          <p:cNvSpPr txBox="1"/>
          <p:nvPr/>
        </p:nvSpPr>
        <p:spPr>
          <a:xfrm>
            <a:off x="0" y="1389778"/>
            <a:ext cx="12192000" cy="18723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78</a:t>
            </a:r>
            <a:r>
              <a:rPr kumimoji="1" lang="en-US" altLang="ja-JP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%</a:t>
            </a: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の意思決定者は</a:t>
            </a:r>
            <a:r>
              <a:rPr kumimoji="1" lang="en-US" altLang="ja-JP" sz="6600" b="1" i="0" u="none" strike="noStrike" kern="1200" cap="none" spc="0" normalizeH="0" baseline="0" noProof="0" dirty="0">
                <a:ln>
                  <a:noFill/>
                </a:ln>
                <a:solidFill>
                  <a:srgbClr val="0E58C4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10</a:t>
            </a:r>
            <a:r>
              <a:rPr kumimoji="1" lang="ja-JP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58C4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秒</a:t>
            </a: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で見て</a:t>
            </a:r>
            <a:endParaRPr kumimoji="1" lang="en-US" altLang="ja-JP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icrosoft YaHei Light"/>
            </a:endParaRPr>
          </a:p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「</a:t>
            </a:r>
            <a:r>
              <a:rPr kumimoji="1" lang="ja-JP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E58C4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要は何か？</a:t>
            </a:r>
            <a:r>
              <a:rPr kumimoji="1" lang="ja-JP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」</a:t>
            </a:r>
            <a:r>
              <a:rPr lang="ja-JP" altLang="en-US" sz="3600" b="1" dirty="0">
                <a:solidFill>
                  <a:prstClr val="black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が分かれば、詳細情報も見る</a:t>
            </a:r>
            <a:endParaRPr kumimoji="1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icrosoft YaHei Light"/>
            </a:endParaRPr>
          </a:p>
        </p:txBody>
      </p:sp>
      <p:sp>
        <p:nvSpPr>
          <p:cNvPr id="23" name="思考の吹き出し: 雲形 22">
            <a:extLst>
              <a:ext uri="{FF2B5EF4-FFF2-40B4-BE49-F238E27FC236}">
                <a16:creationId xmlns:a16="http://schemas.microsoft.com/office/drawing/2014/main" id="{7BDB51D8-E168-DF04-DCEA-A30C48F7E067}"/>
              </a:ext>
            </a:extLst>
          </p:cNvPr>
          <p:cNvSpPr/>
          <p:nvPr/>
        </p:nvSpPr>
        <p:spPr>
          <a:xfrm>
            <a:off x="7303980" y="3445044"/>
            <a:ext cx="3605623" cy="1604809"/>
          </a:xfrm>
          <a:prstGeom prst="cloudCallout">
            <a:avLst>
              <a:gd name="adj1" fmla="val -56066"/>
              <a:gd name="adj2" fmla="val 41584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なんだ</a:t>
            </a:r>
            <a:endParaRPr kumimoji="1"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この画像は？</a:t>
            </a:r>
            <a:endParaRPr kumimoji="1" lang="ja-JP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5" name="思考の吹き出し: 雲形 24">
            <a:extLst>
              <a:ext uri="{FF2B5EF4-FFF2-40B4-BE49-F238E27FC236}">
                <a16:creationId xmlns:a16="http://schemas.microsoft.com/office/drawing/2014/main" id="{5BD35FF4-32DF-745B-9384-D771EDE996E3}"/>
              </a:ext>
            </a:extLst>
          </p:cNvPr>
          <p:cNvSpPr>
            <a:spLocks/>
          </p:cNvSpPr>
          <p:nvPr/>
        </p:nvSpPr>
        <p:spPr>
          <a:xfrm>
            <a:off x="8054444" y="5065543"/>
            <a:ext cx="3605623" cy="1604809"/>
          </a:xfrm>
          <a:prstGeom prst="cloudCallout">
            <a:avLst>
              <a:gd name="adj1" fmla="val -56066"/>
              <a:gd name="adj2" fmla="val 41584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目が疲れる</a:t>
            </a:r>
            <a:r>
              <a:rPr kumimoji="1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…</a:t>
            </a:r>
            <a:endParaRPr kumimoji="1" lang="ja-JP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33" name="グラフィックス 32" descr="閉じる 単色塗りつぶし">
            <a:extLst>
              <a:ext uri="{FF2B5EF4-FFF2-40B4-BE49-F238E27FC236}">
                <a16:creationId xmlns:a16="http://schemas.microsoft.com/office/drawing/2014/main" id="{52CCE1A7-07E4-9E2E-8B9D-ACDE1C7894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9573" y="3315413"/>
            <a:ext cx="914400" cy="914400"/>
          </a:xfrm>
          <a:prstGeom prst="rect">
            <a:avLst/>
          </a:prstGeom>
        </p:spPr>
      </p:pic>
      <p:pic>
        <p:nvPicPr>
          <p:cNvPr id="36" name="グラフィックス 35" descr="閉じる 単色塗りつぶし">
            <a:extLst>
              <a:ext uri="{FF2B5EF4-FFF2-40B4-BE49-F238E27FC236}">
                <a16:creationId xmlns:a16="http://schemas.microsoft.com/office/drawing/2014/main" id="{090A8773-5E99-462B-DAFA-BDB62E1B2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8743" y="4769599"/>
            <a:ext cx="914400" cy="914400"/>
          </a:xfrm>
          <a:prstGeom prst="rect">
            <a:avLst/>
          </a:prstGeom>
        </p:spPr>
      </p:pic>
      <p:pic>
        <p:nvPicPr>
          <p:cNvPr id="38" name="グラフィックス 37" descr="ハーベイ ボール 0% 単色塗りつぶし">
            <a:extLst>
              <a:ext uri="{FF2B5EF4-FFF2-40B4-BE49-F238E27FC236}">
                <a16:creationId xmlns:a16="http://schemas.microsoft.com/office/drawing/2014/main" id="{35853BEC-146D-CEFC-67A7-68100780EB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3538" y="5049853"/>
            <a:ext cx="914400" cy="914400"/>
          </a:xfrm>
          <a:prstGeom prst="rect">
            <a:avLst/>
          </a:prstGeom>
        </p:spPr>
      </p:pic>
      <p:sp>
        <p:nvSpPr>
          <p:cNvPr id="40" name="思考の吹き出し: 雲形 39">
            <a:extLst>
              <a:ext uri="{FF2B5EF4-FFF2-40B4-BE49-F238E27FC236}">
                <a16:creationId xmlns:a16="http://schemas.microsoft.com/office/drawing/2014/main" id="{939E06E4-8914-A53A-E094-E54C49E63A6A}"/>
              </a:ext>
            </a:extLst>
          </p:cNvPr>
          <p:cNvSpPr/>
          <p:nvPr/>
        </p:nvSpPr>
        <p:spPr>
          <a:xfrm flipH="1">
            <a:off x="152400" y="3445045"/>
            <a:ext cx="4658898" cy="1406356"/>
          </a:xfrm>
          <a:prstGeom prst="cloudCallout">
            <a:avLst>
              <a:gd name="adj1" fmla="val -56066"/>
              <a:gd name="adj2" fmla="val 41584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そういうことか！</a:t>
            </a:r>
          </a:p>
        </p:txBody>
      </p:sp>
      <p:pic>
        <p:nvPicPr>
          <p:cNvPr id="31" name="グラフィックス 30" descr="ハーベイ ボール 0% 単色塗りつぶし">
            <a:extLst>
              <a:ext uri="{FF2B5EF4-FFF2-40B4-BE49-F238E27FC236}">
                <a16:creationId xmlns:a16="http://schemas.microsoft.com/office/drawing/2014/main" id="{B49E9711-1E37-3F0D-3432-6DA8211BBD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071" y="331541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10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AAE7545-A50E-A878-F173-8AC900A27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252330"/>
          </a:xfrm>
          <a:prstGeom prst="rect">
            <a:avLst/>
          </a:prstGeom>
          <a:solidFill>
            <a:srgbClr val="0831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11" name="タイトル 10">
            <a:extLst>
              <a:ext uri="{FF2B5EF4-FFF2-40B4-BE49-F238E27FC236}">
                <a16:creationId xmlns:a16="http://schemas.microsoft.com/office/drawing/2014/main" id="{680309DC-C464-470F-B96D-360ECE3327B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65100"/>
            <a:ext cx="12192000" cy="83099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自分本位の</a:t>
            </a:r>
            <a:r>
              <a:rPr kumimoji="1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”</a:t>
            </a:r>
            <a:r>
              <a:rPr kumimoji="1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伝える</a:t>
            </a:r>
            <a:r>
              <a:rPr kumimoji="1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”</a:t>
            </a:r>
            <a:r>
              <a:rPr kumimoji="1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資料</a:t>
            </a:r>
            <a:r>
              <a:rPr kumimoji="1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は伝わらない</a:t>
            </a:r>
            <a:endParaRPr kumimoji="1" lang="en-US" altLang="ja-JP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2" name="図 1" descr="NG例">
            <a:extLst>
              <a:ext uri="{FF2B5EF4-FFF2-40B4-BE49-F238E27FC236}">
                <a16:creationId xmlns:a16="http://schemas.microsoft.com/office/drawing/2014/main" id="{608F2520-353E-A4FD-E7DF-E8D455E81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85" y="1780659"/>
            <a:ext cx="8331465" cy="468644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object 16">
            <a:extLst>
              <a:ext uri="{FF2B5EF4-FFF2-40B4-BE49-F238E27FC236}">
                <a16:creationId xmlns:a16="http://schemas.microsoft.com/office/drawing/2014/main" id="{07460579-B857-9587-859E-BAF0F42812D7}"/>
              </a:ext>
            </a:extLst>
          </p:cNvPr>
          <p:cNvSpPr txBox="1"/>
          <p:nvPr/>
        </p:nvSpPr>
        <p:spPr>
          <a:xfrm>
            <a:off x="8978900" y="1958181"/>
            <a:ext cx="3060700" cy="38318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0" indent="-349250">
              <a:spcBef>
                <a:spcPts val="100"/>
              </a:spcBef>
              <a:buFont typeface="+mj-ea"/>
              <a:buAutoNum type="circleNumDbPlain"/>
              <a:defRPr/>
            </a:pPr>
            <a:r>
              <a:rPr lang="ja-JP" altLang="en-US" sz="2000" b="1" dirty="0">
                <a:solidFill>
                  <a:prstClr val="black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文字と色数が多くて目が疲れる</a:t>
            </a:r>
            <a:br>
              <a:rPr lang="en-US" altLang="ja-JP" sz="2000" b="1" dirty="0">
                <a:solidFill>
                  <a:prstClr val="black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</a:br>
            <a:r>
              <a:rPr lang="ja-JP" altLang="en-US" sz="2000" b="1" dirty="0">
                <a:solidFill>
                  <a:prstClr val="black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＝見る気がなくなる</a:t>
            </a:r>
            <a:endParaRPr lang="en-US" altLang="ja-JP" sz="2000" b="1" dirty="0">
              <a:solidFill>
                <a:prstClr val="black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Microsoft YaHei Light"/>
            </a:endParaRPr>
          </a:p>
          <a:p>
            <a:pPr marL="361950" marR="0" lvl="0" indent="-349250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endParaRPr kumimoji="1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icrosoft YaHei Light"/>
            </a:endParaRPr>
          </a:p>
          <a:p>
            <a:pPr marL="361950" marR="0" lvl="0" indent="-349250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アイコン・画像が多くてそこに目が行く</a:t>
            </a:r>
            <a:b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</a:b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＝要点が分からない</a:t>
            </a:r>
            <a:endParaRPr lang="en-US" altLang="ja-JP" sz="2000" b="1" dirty="0">
              <a:solidFill>
                <a:prstClr val="black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Microsoft YaHei Light"/>
            </a:endParaRPr>
          </a:p>
          <a:p>
            <a:pPr marL="361950" marR="0" lvl="0" indent="-349250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endParaRPr kumimoji="1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icrosoft YaHei Light"/>
            </a:endParaRPr>
          </a:p>
          <a:p>
            <a:pPr marL="361950" marR="0" lvl="0" indent="-349250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何をすれば良いか分からない</a:t>
            </a:r>
            <a:b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</a:b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＝行動を誘発できない</a:t>
            </a:r>
            <a:endParaRPr kumimoji="1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icrosoft YaHei Light"/>
            </a:endParaRPr>
          </a:p>
          <a:p>
            <a:pPr marL="355600" marR="0" lvl="0" indent="-342900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Microsoft YaHei Light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2474A78-E452-A1D0-EE8F-54222C59EBF5}"/>
              </a:ext>
            </a:extLst>
          </p:cNvPr>
          <p:cNvSpPr/>
          <p:nvPr/>
        </p:nvSpPr>
        <p:spPr>
          <a:xfrm>
            <a:off x="399785" y="1304971"/>
            <a:ext cx="1562100" cy="3846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NG</a:t>
            </a:r>
            <a:r>
              <a:rPr kumimoji="1" lang="ja-JP" altLang="en-US" sz="24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例</a:t>
            </a:r>
          </a:p>
        </p:txBody>
      </p:sp>
    </p:spTree>
    <p:extLst>
      <p:ext uri="{BB962C8B-B14F-4D97-AF65-F5344CB8AC3E}">
        <p14:creationId xmlns:p14="http://schemas.microsoft.com/office/powerpoint/2010/main" val="2626490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73511" y="1707439"/>
            <a:ext cx="11694370" cy="2977903"/>
          </a:xfrm>
        </p:spPr>
        <p:txBody>
          <a:bodyPr rtlCol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1200"/>
              </a:spcAft>
            </a:pPr>
            <a:r>
              <a:rPr lang="ja-JP" alt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一発</a:t>
            </a:r>
            <a:r>
              <a:rPr lang="en-US" altLang="ja-JP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OK</a:t>
            </a:r>
            <a:r>
              <a:rPr lang="ja-JP" alt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をもらえる</a:t>
            </a:r>
            <a:br>
              <a:rPr lang="en-US" altLang="ja-JP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lang="ja-JP" alt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相手に</a:t>
            </a:r>
            <a:r>
              <a:rPr lang="ja-JP" altLang="en-US" sz="6600" b="1" dirty="0">
                <a:solidFill>
                  <a:srgbClr val="4AE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伝わる</a:t>
            </a:r>
            <a:br>
              <a:rPr lang="en-US" altLang="ja-JP" sz="6600" b="1" dirty="0">
                <a:solidFill>
                  <a:srgbClr val="4AE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lang="ja-JP" altLang="en-US" sz="6600" b="1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インパクト・スライド</a:t>
            </a:r>
            <a:r>
              <a:rPr lang="ja-JP" alt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はこれ</a:t>
            </a:r>
            <a:endParaRPr lang="ja-JP" altLang="en-US" sz="6600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0263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0775F4BF-F37F-4F2D-B95E-F2ACB7C746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17463"/>
            <a:ext cx="12192000" cy="103187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太陽光発電で安定と安心を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E8A0F20-FF6D-46BB-A5F6-A467E6D32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8378" y="3185333"/>
            <a:ext cx="2411805" cy="225463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4149343-4CA0-41CD-ADE9-5D6CB6D36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62260" y="3185334"/>
            <a:ext cx="2411805" cy="231598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D71947B-C98C-4B82-9D4A-5E68758F2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11816" y="3185333"/>
            <a:ext cx="2411805" cy="225463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895A2A6-186C-45CD-8170-5804CCEA3C0D}"/>
              </a:ext>
            </a:extLst>
          </p:cNvPr>
          <p:cNvSpPr/>
          <p:nvPr/>
        </p:nvSpPr>
        <p:spPr>
          <a:xfrm>
            <a:off x="2168378" y="3179014"/>
            <a:ext cx="2411805" cy="781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</a:rPr>
              <a:t>投資効果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304E3D2-D275-4AB7-A2D9-7502A7EF70C4}"/>
              </a:ext>
            </a:extLst>
          </p:cNvPr>
          <p:cNvSpPr txBox="1"/>
          <p:nvPr/>
        </p:nvSpPr>
        <p:spPr>
          <a:xfrm>
            <a:off x="2319951" y="4236978"/>
            <a:ext cx="2260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Tx/>
              <a:tabLst/>
              <a:defRPr/>
            </a:pPr>
            <a:r>
              <a:rPr lang="en-US" altLang="ja-JP" sz="2400" b="1" dirty="0">
                <a:solidFill>
                  <a:prstClr val="black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99%</a:t>
            </a:r>
            <a:r>
              <a:rPr lang="ja-JP" altLang="en-US" sz="2400" b="1" dirty="0">
                <a:solidFill>
                  <a:prstClr val="black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の企業でプラス収支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0471D43-25A2-43BE-B59D-44F8A744F3C7}"/>
              </a:ext>
            </a:extLst>
          </p:cNvPr>
          <p:cNvSpPr/>
          <p:nvPr/>
        </p:nvSpPr>
        <p:spPr>
          <a:xfrm>
            <a:off x="4862261" y="3179013"/>
            <a:ext cx="2411804" cy="781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事業継続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35AF725-2107-41B3-AC4A-3559C3AF95A0}"/>
              </a:ext>
            </a:extLst>
          </p:cNvPr>
          <p:cNvSpPr/>
          <p:nvPr/>
        </p:nvSpPr>
        <p:spPr>
          <a:xfrm>
            <a:off x="7611816" y="3175711"/>
            <a:ext cx="2411805" cy="781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安心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3E2F23A-8A5B-4F8C-9ACA-024DD5B425DC}"/>
              </a:ext>
            </a:extLst>
          </p:cNvPr>
          <p:cNvSpPr txBox="1"/>
          <p:nvPr/>
        </p:nvSpPr>
        <p:spPr>
          <a:xfrm>
            <a:off x="5065661" y="4356774"/>
            <a:ext cx="2046339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Tx/>
              <a:tabLst/>
              <a:defRPr/>
            </a:pP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停電時の予備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177800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CA61CBB-2F31-40AE-A5AA-C443CD245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4000" y="1454046"/>
            <a:ext cx="9406393" cy="12747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993A2B-3CAB-436F-9E4A-136EA55047CF}"/>
              </a:ext>
            </a:extLst>
          </p:cNvPr>
          <p:cNvSpPr txBox="1"/>
          <p:nvPr/>
        </p:nvSpPr>
        <p:spPr>
          <a:xfrm>
            <a:off x="3253603" y="1659157"/>
            <a:ext cx="76767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SDGs</a:t>
            </a: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の実現には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R="0" lvl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再生可能エネルギーと経済活動の両立が必要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DEB3D040-5BE9-462B-AF1B-495AB4E0B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7702" y="1582370"/>
            <a:ext cx="1462199" cy="1018124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245FA0A-5880-4697-98F5-00D88F7CB03D}"/>
              </a:ext>
            </a:extLst>
          </p:cNvPr>
          <p:cNvSpPr txBox="1"/>
          <p:nvPr/>
        </p:nvSpPr>
        <p:spPr>
          <a:xfrm>
            <a:off x="7703213" y="4256320"/>
            <a:ext cx="22662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Tx/>
              <a:tabLst/>
              <a:defRPr/>
            </a:pP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事業者が即時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Tx/>
              <a:tabLst/>
              <a:defRPr/>
            </a:pP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サポート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E9BFC28-2734-4862-AF35-689B791D7B98}"/>
              </a:ext>
            </a:extLst>
          </p:cNvPr>
          <p:cNvSpPr txBox="1"/>
          <p:nvPr/>
        </p:nvSpPr>
        <p:spPr>
          <a:xfrm>
            <a:off x="9380069" y="6433368"/>
            <a:ext cx="3100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※</a:t>
            </a: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詳細は補足資料①へ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B9F33BCF-E050-8D96-C47A-B4C08BB9C6AA}"/>
              </a:ext>
            </a:extLst>
          </p:cNvPr>
          <p:cNvSpPr/>
          <p:nvPr/>
        </p:nvSpPr>
        <p:spPr>
          <a:xfrm>
            <a:off x="1904654" y="2957947"/>
            <a:ext cx="465006" cy="42225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/>
              <a:t>1</a:t>
            </a:r>
            <a:endParaRPr kumimoji="1" lang="ja-JP" altLang="en-US" sz="2400" b="1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8CDF42BF-5BEB-A2CE-4A90-B30B1C45E161}"/>
              </a:ext>
            </a:extLst>
          </p:cNvPr>
          <p:cNvSpPr/>
          <p:nvPr/>
        </p:nvSpPr>
        <p:spPr>
          <a:xfrm>
            <a:off x="4734821" y="2909253"/>
            <a:ext cx="465006" cy="42225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/>
              <a:t>2</a:t>
            </a:r>
            <a:endParaRPr kumimoji="1" lang="ja-JP" altLang="en-US" sz="2400" b="1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39D0405A-521B-4A5F-DAB7-6CBDA1B052FD}"/>
              </a:ext>
            </a:extLst>
          </p:cNvPr>
          <p:cNvSpPr/>
          <p:nvPr/>
        </p:nvSpPr>
        <p:spPr>
          <a:xfrm>
            <a:off x="7429022" y="2917701"/>
            <a:ext cx="465006" cy="42225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 dirty="0"/>
              <a:t>3</a:t>
            </a:r>
            <a:endParaRPr kumimoji="1" lang="ja-JP" altLang="en-US" sz="2400" b="1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D0A1354-0483-EA6D-5E9F-259D81A690BF}"/>
              </a:ext>
            </a:extLst>
          </p:cNvPr>
          <p:cNvSpPr txBox="1"/>
          <p:nvPr/>
        </p:nvSpPr>
        <p:spPr>
          <a:xfrm>
            <a:off x="82825" y="5701393"/>
            <a:ext cx="120263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3</a:t>
            </a:r>
            <a:r>
              <a:rPr lang="ja-JP" altLang="en-US" sz="32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点を考慮して決定をお願いします</a:t>
            </a:r>
            <a:endParaRPr kumimoji="1" lang="ja-JP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0381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 descr="サンプル">
            <a:extLst>
              <a:ext uri="{FF2B5EF4-FFF2-40B4-BE49-F238E27FC236}">
                <a16:creationId xmlns:a16="http://schemas.microsoft.com/office/drawing/2014/main" id="{F805701E-CCCE-BD90-FD1C-D4EB5F8BA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267" y="2433623"/>
            <a:ext cx="6096528" cy="3429297"/>
          </a:xfrm>
          <a:prstGeom prst="rect">
            <a:avLst/>
          </a:prstGeom>
          <a:ln w="28575">
            <a:solidFill>
              <a:schemeClr val="bg1">
                <a:lumMod val="75000"/>
              </a:schemeClr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AAE7545-A50E-A878-F173-8AC900A27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252330"/>
          </a:xfrm>
          <a:prstGeom prst="rect">
            <a:avLst/>
          </a:prstGeom>
          <a:solidFill>
            <a:srgbClr val="0831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11" name="タイトル 10">
            <a:extLst>
              <a:ext uri="{FF2B5EF4-FFF2-40B4-BE49-F238E27FC236}">
                <a16:creationId xmlns:a16="http://schemas.microsoft.com/office/drawing/2014/main" id="{680309DC-C464-470F-B96D-360ECE3327B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65100"/>
            <a:ext cx="12192000" cy="83099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相手に”伝わる”デザイン</a:t>
            </a:r>
            <a:r>
              <a:rPr kumimoji="1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6699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６ルール</a:t>
            </a:r>
          </a:p>
        </p:txBody>
      </p:sp>
      <p:sp>
        <p:nvSpPr>
          <p:cNvPr id="3" name="object 16">
            <a:extLst>
              <a:ext uri="{FF2B5EF4-FFF2-40B4-BE49-F238E27FC236}">
                <a16:creationId xmlns:a16="http://schemas.microsoft.com/office/drawing/2014/main" id="{07460579-B857-9587-859E-BAF0F42812D7}"/>
              </a:ext>
            </a:extLst>
          </p:cNvPr>
          <p:cNvSpPr txBox="1"/>
          <p:nvPr/>
        </p:nvSpPr>
        <p:spPr>
          <a:xfrm>
            <a:off x="8941132" y="1416831"/>
            <a:ext cx="3060700" cy="1490152"/>
          </a:xfrm>
          <a:prstGeom prst="rect">
            <a:avLst/>
          </a:prstGeom>
          <a:solidFill>
            <a:srgbClr val="EBE9EC"/>
          </a:solidFill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❺ </a:t>
            </a: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相手にメモを取らせたい「本質</a:t>
            </a:r>
            <a:r>
              <a:rPr lang="ja-JP" altLang="en-US" sz="2400" b="1" dirty="0">
                <a:solidFill>
                  <a:prstClr val="black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」</a:t>
            </a: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をタイトルに白抜き文字で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icrosoft YaHei Light"/>
            </a:endParaRP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E4150E24-E8A5-9309-BA3D-3DEA1A88F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555031">
            <a:off x="2962733" y="3680187"/>
            <a:ext cx="6181865" cy="1145774"/>
          </a:xfrm>
          <a:prstGeom prst="rightArrow">
            <a:avLst/>
          </a:prstGeom>
          <a:solidFill>
            <a:srgbClr val="FF669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46A40485-4841-80EC-5E7A-E586C59DC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27909" y="2943205"/>
            <a:ext cx="2880892" cy="525519"/>
          </a:xfrm>
          <a:prstGeom prst="rightArrow">
            <a:avLst/>
          </a:prstGeom>
          <a:solidFill>
            <a:srgbClr val="FF669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91FF8EF-90B0-0261-3041-BFEC14B9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94434" y="2990772"/>
            <a:ext cx="4139968" cy="876455"/>
          </a:xfrm>
          <a:prstGeom prst="roundRect">
            <a:avLst/>
          </a:prstGeom>
          <a:noFill/>
          <a:ln w="57150">
            <a:solidFill>
              <a:srgbClr val="FF006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2358F6B-95A2-15ED-141F-8E4BCB9063CB}"/>
              </a:ext>
            </a:extLst>
          </p:cNvPr>
          <p:cNvSpPr/>
          <p:nvPr/>
        </p:nvSpPr>
        <p:spPr>
          <a:xfrm>
            <a:off x="8515363" y="3094799"/>
            <a:ext cx="1178071" cy="598863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要点は</a:t>
            </a:r>
            <a:endParaRPr lang="en-US" altLang="ja-JP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コレ</a:t>
            </a:r>
            <a:endParaRPr kumimoji="1" lang="ja-JP" altLang="en-US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AA39A108-8814-36D6-EFBF-3A53941514F1}"/>
              </a:ext>
            </a:extLst>
          </p:cNvPr>
          <p:cNvSpPr txBox="1"/>
          <p:nvPr/>
        </p:nvSpPr>
        <p:spPr>
          <a:xfrm>
            <a:off x="3573146" y="5770287"/>
            <a:ext cx="5045708" cy="382156"/>
          </a:xfrm>
          <a:prstGeom prst="rect">
            <a:avLst/>
          </a:prstGeom>
          <a:solidFill>
            <a:srgbClr val="EBE9EC"/>
          </a:solidFill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2400" b="1" dirty="0">
                <a:solidFill>
                  <a:srgbClr val="FF0066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❹ </a:t>
            </a: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相手に求めるアクションを</a:t>
            </a:r>
            <a:r>
              <a:rPr lang="ja-JP" altLang="en-US" sz="2400" b="1" dirty="0"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入れる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icrosoft YaHei Light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1D871CC-440A-DA5F-F082-4C6197F61681}"/>
              </a:ext>
            </a:extLst>
          </p:cNvPr>
          <p:cNvSpPr txBox="1"/>
          <p:nvPr/>
        </p:nvSpPr>
        <p:spPr>
          <a:xfrm>
            <a:off x="342488" y="4605893"/>
            <a:ext cx="3315112" cy="1120820"/>
          </a:xfrm>
          <a:prstGeom prst="rect">
            <a:avLst/>
          </a:prstGeom>
          <a:solidFill>
            <a:srgbClr val="EBE9EC"/>
          </a:solidFill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2400" b="1" dirty="0">
                <a:solidFill>
                  <a:srgbClr val="FF0066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❸ </a:t>
            </a:r>
            <a:r>
              <a:rPr lang="ja-JP" altLang="en-US" sz="2400" b="1" dirty="0"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文字数は</a:t>
            </a:r>
            <a:r>
              <a:rPr lang="en-US" altLang="ja-JP" sz="2400" b="1" dirty="0"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100</a:t>
            </a:r>
            <a:r>
              <a:rPr lang="ja-JP" altLang="en-US" sz="2400" b="1" dirty="0"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文字程度に絞る！詳細情報は補足資料でカバー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icrosoft YaHei Light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21BA57B5-C39A-9E49-8DE1-FC09E3D4E579}"/>
              </a:ext>
            </a:extLst>
          </p:cNvPr>
          <p:cNvSpPr txBox="1"/>
          <p:nvPr/>
        </p:nvSpPr>
        <p:spPr>
          <a:xfrm>
            <a:off x="342488" y="1326585"/>
            <a:ext cx="5849590" cy="751488"/>
          </a:xfrm>
          <a:prstGeom prst="rect">
            <a:avLst/>
          </a:prstGeom>
          <a:solidFill>
            <a:srgbClr val="EBE9EC"/>
          </a:solidFill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2400" b="1" dirty="0">
                <a:solidFill>
                  <a:srgbClr val="FF0066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❶ </a:t>
            </a:r>
            <a:r>
              <a:rPr lang="ja-JP" altLang="en-US" sz="2400" b="1" dirty="0"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使う色数は</a:t>
            </a:r>
            <a:r>
              <a:rPr lang="en-US" altLang="ja-JP" sz="2400" b="1" dirty="0"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2</a:t>
            </a:r>
            <a:r>
              <a:rPr lang="ja-JP" altLang="en-US" sz="2400" b="1" dirty="0"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色を推奨、なるべく</a:t>
            </a:r>
            <a:r>
              <a:rPr lang="en-US" altLang="ja-JP" sz="2400" b="1" dirty="0"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3</a:t>
            </a:r>
            <a:r>
              <a:rPr lang="ja-JP" altLang="en-US" sz="2400" b="1" dirty="0"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色以内にして相手の視線を疲れさせない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icrosoft YaHei Light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EB26A1B2-70CE-D99C-ACAD-BBCFCA5BAC02}"/>
              </a:ext>
            </a:extLst>
          </p:cNvPr>
          <p:cNvSpPr txBox="1"/>
          <p:nvPr/>
        </p:nvSpPr>
        <p:spPr>
          <a:xfrm>
            <a:off x="8919645" y="3759942"/>
            <a:ext cx="2732207" cy="1490152"/>
          </a:xfrm>
          <a:prstGeom prst="rect">
            <a:avLst/>
          </a:prstGeom>
          <a:solidFill>
            <a:srgbClr val="EBE9EC"/>
          </a:solidFill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2400" b="1" dirty="0">
                <a:solidFill>
                  <a:srgbClr val="FF0066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❻ </a:t>
            </a:r>
            <a:r>
              <a:rPr lang="ja-JP" altLang="en-US" sz="2400" b="1" dirty="0"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要点の周りに余白を配置して確実に視線を誘導する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icrosoft YaHei Light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1C0E2FA8-7B30-C25F-B440-03154E66D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83154" y="5166303"/>
            <a:ext cx="3808516" cy="499687"/>
          </a:xfrm>
          <a:prstGeom prst="roundRect">
            <a:avLst/>
          </a:prstGeom>
          <a:noFill/>
          <a:ln w="57150">
            <a:solidFill>
              <a:srgbClr val="FF006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object 16">
            <a:extLst>
              <a:ext uri="{FF2B5EF4-FFF2-40B4-BE49-F238E27FC236}">
                <a16:creationId xmlns:a16="http://schemas.microsoft.com/office/drawing/2014/main" id="{953C3478-E874-5068-15B5-1459F92DE17E}"/>
              </a:ext>
            </a:extLst>
          </p:cNvPr>
          <p:cNvSpPr txBox="1"/>
          <p:nvPr/>
        </p:nvSpPr>
        <p:spPr>
          <a:xfrm>
            <a:off x="346346" y="2768853"/>
            <a:ext cx="3060700" cy="1490152"/>
          </a:xfrm>
          <a:prstGeom prst="rect">
            <a:avLst/>
          </a:prstGeom>
          <a:solidFill>
            <a:srgbClr val="EBE9EC"/>
          </a:solidFill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2400" b="1" dirty="0">
                <a:solidFill>
                  <a:srgbClr val="FF0066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❷ </a:t>
            </a: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相手</a:t>
            </a:r>
            <a:r>
              <a:rPr lang="ja-JP" altLang="en-US" sz="2400" b="1" dirty="0">
                <a:latin typeface="游ゴシック" panose="020B0400000000000000" pitchFamily="50" charset="-128"/>
                <a:ea typeface="游ゴシック" panose="020B0400000000000000" pitchFamily="50" charset="-128"/>
                <a:cs typeface="Microsoft YaHei Light"/>
              </a:rPr>
              <a:t>の視線は対角線で動く！その上にアイコンを置いて右を読ませる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icrosoft YaHei Light"/>
            </a:endParaRPr>
          </a:p>
        </p:txBody>
      </p:sp>
    </p:spTree>
    <p:extLst>
      <p:ext uri="{BB962C8B-B14F-4D97-AF65-F5344CB8AC3E}">
        <p14:creationId xmlns:p14="http://schemas.microsoft.com/office/powerpoint/2010/main" val="3018412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0775F4BF-F37F-4F2D-B95E-F2ACB7C746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17463"/>
            <a:ext cx="12192000" cy="103187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タイトル＝調査・解釈で分かった本質（白抜き文字）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E8A0F20-FF6D-46BB-A5F6-A467E6D32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7698" y="3306710"/>
            <a:ext cx="2411805" cy="225463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4149343-4CA0-41CD-ADE9-5D6CB6D36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81580" y="3306711"/>
            <a:ext cx="2411805" cy="231598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D71947B-C98C-4B82-9D4A-5E68758F2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1136" y="3306710"/>
            <a:ext cx="2411805" cy="225463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895A2A6-186C-45CD-8170-5804CCEA3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7698" y="3300391"/>
            <a:ext cx="2411805" cy="781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0471D43-25A2-43BE-B59D-44F8A744F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81581" y="3300314"/>
            <a:ext cx="2411804" cy="781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35AF725-2107-41B3-AC4A-3559C3AF9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1136" y="3297088"/>
            <a:ext cx="2411805" cy="781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CA61CBB-2F31-40AE-A5AA-C443CD245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4000" y="1454046"/>
            <a:ext cx="9406393" cy="12747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993A2B-3CAB-436F-9E4A-136EA55047CF}"/>
              </a:ext>
            </a:extLst>
          </p:cNvPr>
          <p:cNvSpPr txBox="1"/>
          <p:nvPr/>
        </p:nvSpPr>
        <p:spPr>
          <a:xfrm>
            <a:off x="3186751" y="1877624"/>
            <a:ext cx="7676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10</a:t>
            </a: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秒で相手に分からせる「要点</a:t>
            </a:r>
            <a:r>
              <a:rPr lang="ja-JP" altLang="en-US" sz="2800" b="1" dirty="0">
                <a:solidFill>
                  <a:schemeClr val="bg2">
                    <a:lumMod val="5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」「結論」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DEB3D040-5BE9-462B-AF1B-495AB4E0B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7702" y="1582370"/>
            <a:ext cx="1462199" cy="1018124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245FA0A-5880-4697-98F5-00D88F7CB03D}"/>
              </a:ext>
            </a:extLst>
          </p:cNvPr>
          <p:cNvSpPr txBox="1"/>
          <p:nvPr/>
        </p:nvSpPr>
        <p:spPr>
          <a:xfrm>
            <a:off x="2683338" y="4536804"/>
            <a:ext cx="7126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調査データなど相手の行動を促す要素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E9BFC28-2734-4862-AF35-689B791D7B98}"/>
              </a:ext>
            </a:extLst>
          </p:cNvPr>
          <p:cNvSpPr txBox="1"/>
          <p:nvPr/>
        </p:nvSpPr>
        <p:spPr>
          <a:xfrm>
            <a:off x="9539095" y="6425200"/>
            <a:ext cx="3100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※</a:t>
            </a: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詳細は補足資料へ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B9F33BCF-E050-8D96-C47A-B4C08BB9C6AA}"/>
              </a:ext>
            </a:extLst>
          </p:cNvPr>
          <p:cNvSpPr/>
          <p:nvPr/>
        </p:nvSpPr>
        <p:spPr>
          <a:xfrm>
            <a:off x="1923974" y="3079324"/>
            <a:ext cx="465006" cy="42225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Meiryo UI"/>
                <a:cs typeface="+mn-cs"/>
              </a:rPr>
              <a:t>1</a:t>
            </a:r>
            <a:endParaRPr kumimoji="1" lang="ja-JP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8CDF42BF-5BEB-A2CE-4A90-B30B1C45E161}"/>
              </a:ext>
            </a:extLst>
          </p:cNvPr>
          <p:cNvSpPr/>
          <p:nvPr/>
        </p:nvSpPr>
        <p:spPr>
          <a:xfrm>
            <a:off x="4754141" y="3030630"/>
            <a:ext cx="465006" cy="42225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Meiryo UI"/>
                <a:cs typeface="+mn-cs"/>
              </a:rPr>
              <a:t>2</a:t>
            </a:r>
            <a:endParaRPr kumimoji="1" lang="ja-JP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39D0405A-521B-4A5F-DAB7-6CBDA1B052FD}"/>
              </a:ext>
            </a:extLst>
          </p:cNvPr>
          <p:cNvSpPr/>
          <p:nvPr/>
        </p:nvSpPr>
        <p:spPr>
          <a:xfrm>
            <a:off x="7448342" y="3039078"/>
            <a:ext cx="465006" cy="42225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Meiryo UI"/>
                <a:cs typeface="+mn-cs"/>
              </a:rPr>
              <a:t>3</a:t>
            </a:r>
            <a:endParaRPr kumimoji="1" lang="ja-JP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D0A1354-0483-EA6D-5E9F-259D81A690BF}"/>
              </a:ext>
            </a:extLst>
          </p:cNvPr>
          <p:cNvSpPr txBox="1"/>
          <p:nvPr/>
        </p:nvSpPr>
        <p:spPr>
          <a:xfrm>
            <a:off x="82826" y="5720498"/>
            <a:ext cx="120263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相手に求めるアクション</a:t>
            </a:r>
          </a:p>
        </p:txBody>
      </p:sp>
    </p:spTree>
    <p:extLst>
      <p:ext uri="{BB962C8B-B14F-4D97-AF65-F5344CB8AC3E}">
        <p14:creationId xmlns:p14="http://schemas.microsoft.com/office/powerpoint/2010/main" val="2250018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E8A0F20-FF6D-46BB-A5F6-A467E6D32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7698" y="3306710"/>
            <a:ext cx="2411805" cy="225463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4149343-4CA0-41CD-ADE9-5D6CB6D36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81580" y="3306711"/>
            <a:ext cx="2411805" cy="231598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D71947B-C98C-4B82-9D4A-5E68758F2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1136" y="3306710"/>
            <a:ext cx="2411805" cy="225463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895A2A6-186C-45CD-8170-5804CCEA3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7698" y="3300391"/>
            <a:ext cx="2411805" cy="781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0471D43-25A2-43BE-B59D-44F8A744F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81581" y="3300314"/>
            <a:ext cx="2411804" cy="781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35AF725-2107-41B3-AC4A-3559C3AF9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1136" y="3297088"/>
            <a:ext cx="2411805" cy="781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CA61CBB-2F31-40AE-A5AA-C443CD245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4000" y="1454046"/>
            <a:ext cx="9406393" cy="12747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993A2B-3CAB-436F-9E4A-136EA55047CF}"/>
              </a:ext>
            </a:extLst>
          </p:cNvPr>
          <p:cNvSpPr txBox="1"/>
          <p:nvPr/>
        </p:nvSpPr>
        <p:spPr>
          <a:xfrm>
            <a:off x="3186751" y="1877624"/>
            <a:ext cx="7676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テキストを入力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DEB3D040-5BE9-462B-AF1B-495AB4E0B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7702" y="1582370"/>
            <a:ext cx="1462199" cy="1018124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245FA0A-5880-4697-98F5-00D88F7CB03D}"/>
              </a:ext>
            </a:extLst>
          </p:cNvPr>
          <p:cNvSpPr txBox="1"/>
          <p:nvPr/>
        </p:nvSpPr>
        <p:spPr>
          <a:xfrm>
            <a:off x="2524304" y="4556843"/>
            <a:ext cx="7126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Tx/>
              <a:buFontTx/>
              <a:buNone/>
              <a:tabLst/>
              <a:defRPr/>
            </a:pP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テキストを入力テキストを入力テキストを入力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E9BFC28-2734-4862-AF35-689B791D7B98}"/>
              </a:ext>
            </a:extLst>
          </p:cNvPr>
          <p:cNvSpPr txBox="1"/>
          <p:nvPr/>
        </p:nvSpPr>
        <p:spPr>
          <a:xfrm>
            <a:off x="9539095" y="6425200"/>
            <a:ext cx="3100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※</a:t>
            </a:r>
            <a:r>
              <a:rPr lang="ja-JP" altLang="en-US" sz="2000" dirty="0">
                <a:solidFill>
                  <a:prstClr val="black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注釈あれば記載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B9F33BCF-E050-8D96-C47A-B4C08BB9C6AA}"/>
              </a:ext>
            </a:extLst>
          </p:cNvPr>
          <p:cNvSpPr/>
          <p:nvPr/>
        </p:nvSpPr>
        <p:spPr>
          <a:xfrm>
            <a:off x="1923974" y="3079324"/>
            <a:ext cx="465006" cy="42225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Meiryo UI"/>
                <a:cs typeface="+mn-cs"/>
              </a:rPr>
              <a:t>1</a:t>
            </a:r>
            <a:endParaRPr kumimoji="1" lang="ja-JP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8CDF42BF-5BEB-A2CE-4A90-B30B1C45E161}"/>
              </a:ext>
            </a:extLst>
          </p:cNvPr>
          <p:cNvSpPr/>
          <p:nvPr/>
        </p:nvSpPr>
        <p:spPr>
          <a:xfrm>
            <a:off x="4754141" y="3030630"/>
            <a:ext cx="465006" cy="42225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Meiryo UI"/>
                <a:cs typeface="+mn-cs"/>
              </a:rPr>
              <a:t>2</a:t>
            </a:r>
            <a:endParaRPr kumimoji="1" lang="ja-JP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39D0405A-521B-4A5F-DAB7-6CBDA1B052FD}"/>
              </a:ext>
            </a:extLst>
          </p:cNvPr>
          <p:cNvSpPr/>
          <p:nvPr/>
        </p:nvSpPr>
        <p:spPr>
          <a:xfrm>
            <a:off x="7448342" y="3039078"/>
            <a:ext cx="465006" cy="42225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Meiryo UI"/>
                <a:cs typeface="+mn-cs"/>
              </a:rPr>
              <a:t>3</a:t>
            </a:r>
            <a:endParaRPr kumimoji="1" lang="ja-JP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D0A1354-0483-EA6D-5E9F-259D81A690BF}"/>
              </a:ext>
            </a:extLst>
          </p:cNvPr>
          <p:cNvSpPr txBox="1"/>
          <p:nvPr/>
        </p:nvSpPr>
        <p:spPr>
          <a:xfrm>
            <a:off x="82826" y="5720498"/>
            <a:ext cx="120263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テキストを入力</a:t>
            </a: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E086AC35-44F4-3B0E-76A3-D017354C1AE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17463"/>
            <a:ext cx="12192000" cy="1038226"/>
          </a:xfrm>
          <a:prstGeom prst="rect">
            <a:avLst/>
          </a:prstGeom>
          <a:solidFill>
            <a:srgbClr val="2F5597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149475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73511" y="1707439"/>
            <a:ext cx="11694370" cy="2977903"/>
          </a:xfrm>
        </p:spPr>
        <p:txBody>
          <a:bodyPr rtlCol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1200"/>
              </a:spcAft>
            </a:pPr>
            <a:r>
              <a:rPr lang="ja-JP" alt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３</a:t>
            </a:r>
            <a:r>
              <a:rPr lang="en-US" altLang="ja-JP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W</a:t>
            </a:r>
            <a:r>
              <a:rPr lang="ja-JP" alt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で相手を説得する</a:t>
            </a:r>
            <a:br>
              <a:rPr lang="en-US" altLang="ja-JP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lang="en-US" altLang="ja-JP" sz="7200" b="1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6</a:t>
            </a:r>
            <a:r>
              <a:rPr lang="ja-JP" altLang="en-US" sz="7200" b="1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スライド</a:t>
            </a:r>
            <a:r>
              <a:rPr lang="ja-JP" alt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テンプレート</a:t>
            </a:r>
            <a:endParaRPr lang="ja-JP" altLang="en-US" sz="7200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1275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75F4BF-F37F-4F2D-B95E-F2ACB7C746A1}"/>
              </a:ext>
            </a:extLst>
          </p:cNvPr>
          <p:cNvSpPr/>
          <p:nvPr/>
        </p:nvSpPr>
        <p:spPr>
          <a:xfrm>
            <a:off x="-8518" y="-17859"/>
            <a:ext cx="12200517" cy="10316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251460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なぜ提案するのか、課題の概要、問題の発生原因を記載</a:t>
            </a:r>
            <a:endParaRPr lang="en-US" altLang="ja-JP" sz="28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E8A0F20-FF6D-46BB-A5F6-A467E6D32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3039" y="3299960"/>
            <a:ext cx="7228516" cy="117571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895A2A6-186C-45CD-8170-5804CCEA3C0D}"/>
              </a:ext>
            </a:extLst>
          </p:cNvPr>
          <p:cNvSpPr/>
          <p:nvPr/>
        </p:nvSpPr>
        <p:spPr>
          <a:xfrm>
            <a:off x="2853039" y="3293640"/>
            <a:ext cx="7228516" cy="63077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3200" b="1" dirty="0">
                <a:solidFill>
                  <a:prstClr val="white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仮説❶を記載</a:t>
            </a:r>
            <a:endParaRPr kumimoji="1" lang="en-US" altLang="ja-JP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993A2B-3CAB-436F-9E4A-136EA55047CF}"/>
              </a:ext>
            </a:extLst>
          </p:cNvPr>
          <p:cNvSpPr txBox="1"/>
          <p:nvPr/>
        </p:nvSpPr>
        <p:spPr>
          <a:xfrm>
            <a:off x="2043751" y="1688826"/>
            <a:ext cx="7676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疑問をもった背景・理由をはじめに記載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※</a:t>
            </a: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視線誘導して注目してもらうために周囲には余白を配置</a:t>
            </a:r>
            <a:endParaRPr kumimoji="1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B9F33BCF-E050-8D96-C47A-B4C08BB9C6AA}"/>
              </a:ext>
            </a:extLst>
          </p:cNvPr>
          <p:cNvSpPr/>
          <p:nvPr/>
        </p:nvSpPr>
        <p:spPr>
          <a:xfrm>
            <a:off x="2491012" y="3072572"/>
            <a:ext cx="544159" cy="5581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FE610483-28AA-1C80-0726-EAA3937FD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1296" y="1509209"/>
            <a:ext cx="9303026" cy="1289013"/>
          </a:xfrm>
          <a:prstGeom prst="roundRect">
            <a:avLst/>
          </a:prstGeom>
          <a:noFill/>
          <a:ln w="571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52D3BAA-4FF8-4149-E2BD-2AE51E4905D3}"/>
              </a:ext>
            </a:extLst>
          </p:cNvPr>
          <p:cNvSpPr txBox="1"/>
          <p:nvPr/>
        </p:nvSpPr>
        <p:spPr>
          <a:xfrm>
            <a:off x="2853039" y="3960117"/>
            <a:ext cx="7228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仮説❶の根拠を記載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EEBCEE0-EA27-27DF-1058-D08258BC2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3039" y="5039721"/>
            <a:ext cx="7228516" cy="117571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A7ED937-D665-BE15-2ADB-F2711BD47F49}"/>
              </a:ext>
            </a:extLst>
          </p:cNvPr>
          <p:cNvSpPr/>
          <p:nvPr/>
        </p:nvSpPr>
        <p:spPr>
          <a:xfrm>
            <a:off x="2853039" y="5033401"/>
            <a:ext cx="7228516" cy="63077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3200" b="1" dirty="0">
                <a:solidFill>
                  <a:prstClr val="white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仮説❷を記載</a:t>
            </a:r>
            <a:endParaRPr kumimoji="1" lang="en-US" altLang="ja-JP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47DEDB93-CD11-AB0A-00DC-919E80CE875E}"/>
              </a:ext>
            </a:extLst>
          </p:cNvPr>
          <p:cNvSpPr/>
          <p:nvPr/>
        </p:nvSpPr>
        <p:spPr>
          <a:xfrm>
            <a:off x="2491012" y="4812333"/>
            <a:ext cx="544159" cy="5581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2</a:t>
            </a:r>
            <a:endParaRPr kumimoji="1" lang="ja-JP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6084CA4-F133-F6E0-358C-D5F2C613E14B}"/>
              </a:ext>
            </a:extLst>
          </p:cNvPr>
          <p:cNvSpPr txBox="1"/>
          <p:nvPr/>
        </p:nvSpPr>
        <p:spPr>
          <a:xfrm>
            <a:off x="2853039" y="5699878"/>
            <a:ext cx="7228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仮説</a:t>
            </a:r>
            <a:r>
              <a:rPr lang="ja-JP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❷</a:t>
            </a:r>
            <a:r>
              <a:rPr kumimoji="1" lang="ja-JP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の根拠を記載</a:t>
            </a:r>
          </a:p>
        </p:txBody>
      </p:sp>
      <p:sp>
        <p:nvSpPr>
          <p:cNvPr id="35" name="左中かっこ 34">
            <a:extLst>
              <a:ext uri="{FF2B5EF4-FFF2-40B4-BE49-F238E27FC236}">
                <a16:creationId xmlns:a16="http://schemas.microsoft.com/office/drawing/2014/main" id="{A74F6D60-FC91-D610-7D43-D46671CCB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38365" y="3388022"/>
            <a:ext cx="544160" cy="2529938"/>
          </a:xfrm>
          <a:prstGeom prst="leftBrac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B2F71FB-0EEC-975D-D24E-EEDE84534266}"/>
              </a:ext>
            </a:extLst>
          </p:cNvPr>
          <p:cNvSpPr txBox="1"/>
          <p:nvPr/>
        </p:nvSpPr>
        <p:spPr>
          <a:xfrm>
            <a:off x="-8517" y="3745050"/>
            <a:ext cx="24766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事実か私見かを明確にして複数の</a:t>
            </a: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2~3</a:t>
            </a: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の仮説を提示</a:t>
            </a:r>
            <a:endParaRPr kumimoji="1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ED14154B-88D4-43D0-7638-659D33306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53520" y="6490252"/>
            <a:ext cx="539902" cy="3677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3062962-BD4E-7C72-CCE9-EB1AC94F1AE7}"/>
              </a:ext>
            </a:extLst>
          </p:cNvPr>
          <p:cNvSpPr txBox="1"/>
          <p:nvPr/>
        </p:nvSpPr>
        <p:spPr>
          <a:xfrm>
            <a:off x="11541760" y="6490252"/>
            <a:ext cx="65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1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3F8A31A-39EF-19ED-C05A-13FEB87FF40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7157" y="276769"/>
            <a:ext cx="2320976" cy="1018124"/>
          </a:xfrm>
          <a:prstGeom prst="rect">
            <a:avLst/>
          </a:prstGeom>
          <a:solidFill>
            <a:srgbClr val="FF0066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kumimoji="1" lang="en-US" altLang="ja-JP" sz="26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Why</a:t>
            </a: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スライド　</a:t>
            </a: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疑問提起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435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E8A0F20-FF6D-46BB-A5F6-A467E6D32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3039" y="3299960"/>
            <a:ext cx="7228516" cy="117571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895A2A6-186C-45CD-8170-5804CCEA3C0D}"/>
              </a:ext>
            </a:extLst>
          </p:cNvPr>
          <p:cNvSpPr/>
          <p:nvPr/>
        </p:nvSpPr>
        <p:spPr>
          <a:xfrm>
            <a:off x="2853039" y="3293640"/>
            <a:ext cx="7228516" cy="63077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テキストを入力</a:t>
            </a:r>
            <a:endParaRPr kumimoji="1" lang="en-US" altLang="ja-JP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993A2B-3CAB-436F-9E4A-136EA55047CF}"/>
              </a:ext>
            </a:extLst>
          </p:cNvPr>
          <p:cNvSpPr txBox="1"/>
          <p:nvPr/>
        </p:nvSpPr>
        <p:spPr>
          <a:xfrm>
            <a:off x="2257602" y="1890948"/>
            <a:ext cx="7676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テキストを入力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B9F33BCF-E050-8D96-C47A-B4C08BB9C6AA}"/>
              </a:ext>
            </a:extLst>
          </p:cNvPr>
          <p:cNvSpPr/>
          <p:nvPr/>
        </p:nvSpPr>
        <p:spPr>
          <a:xfrm>
            <a:off x="2491012" y="3072572"/>
            <a:ext cx="544159" cy="5581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FE610483-28AA-1C80-0726-EAA3937FD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1296" y="1509209"/>
            <a:ext cx="9303026" cy="1289013"/>
          </a:xfrm>
          <a:prstGeom prst="roundRect">
            <a:avLst/>
          </a:prstGeom>
          <a:noFill/>
          <a:ln w="571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52D3BAA-4FF8-4149-E2BD-2AE51E4905D3}"/>
              </a:ext>
            </a:extLst>
          </p:cNvPr>
          <p:cNvSpPr txBox="1"/>
          <p:nvPr/>
        </p:nvSpPr>
        <p:spPr>
          <a:xfrm>
            <a:off x="2853039" y="3960117"/>
            <a:ext cx="7228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テキストを入力</a:t>
            </a:r>
            <a:endParaRPr kumimoji="1" lang="ja-JP" altLang="en-US" sz="2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EEBCEE0-EA27-27DF-1058-D08258BC2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3039" y="5039721"/>
            <a:ext cx="7228516" cy="117571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A7ED937-D665-BE15-2ADB-F2711BD47F49}"/>
              </a:ext>
            </a:extLst>
          </p:cNvPr>
          <p:cNvSpPr/>
          <p:nvPr/>
        </p:nvSpPr>
        <p:spPr>
          <a:xfrm>
            <a:off x="2853039" y="5033401"/>
            <a:ext cx="7228516" cy="63077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テキストを入力</a:t>
            </a:r>
            <a:endParaRPr kumimoji="1" lang="en-US" altLang="ja-JP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47DEDB93-CD11-AB0A-00DC-919E80CE875E}"/>
              </a:ext>
            </a:extLst>
          </p:cNvPr>
          <p:cNvSpPr/>
          <p:nvPr/>
        </p:nvSpPr>
        <p:spPr>
          <a:xfrm>
            <a:off x="2491012" y="4812333"/>
            <a:ext cx="544159" cy="5581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2</a:t>
            </a:r>
            <a:endParaRPr kumimoji="1" lang="ja-JP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6084CA4-F133-F6E0-358C-D5F2C613E14B}"/>
              </a:ext>
            </a:extLst>
          </p:cNvPr>
          <p:cNvSpPr txBox="1"/>
          <p:nvPr/>
        </p:nvSpPr>
        <p:spPr>
          <a:xfrm>
            <a:off x="2853039" y="5699878"/>
            <a:ext cx="7228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テキストを入力</a:t>
            </a:r>
            <a:endParaRPr kumimoji="1" lang="ja-JP" altLang="en-US" sz="2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ED14154B-88D4-43D0-7638-659D33306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53520" y="6490252"/>
            <a:ext cx="539902" cy="3677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3062962-BD4E-7C72-CCE9-EB1AC94F1AE7}"/>
              </a:ext>
            </a:extLst>
          </p:cNvPr>
          <p:cNvSpPr txBox="1"/>
          <p:nvPr/>
        </p:nvSpPr>
        <p:spPr>
          <a:xfrm>
            <a:off x="11541760" y="6490252"/>
            <a:ext cx="65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1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4" name="タイトル 8">
            <a:extLst>
              <a:ext uri="{FF2B5EF4-FFF2-40B4-BE49-F238E27FC236}">
                <a16:creationId xmlns:a16="http://schemas.microsoft.com/office/drawing/2014/main" id="{67C38B4F-DE39-C353-AE41-623B89DC952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7463"/>
            <a:ext cx="12192000" cy="1038226"/>
          </a:xfrm>
          <a:prstGeom prst="rect">
            <a:avLst/>
          </a:prstGeom>
          <a:solidFill>
            <a:srgbClr val="2F5597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1195268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75F4BF-F37F-4F2D-B95E-F2ACB7C746A1}"/>
              </a:ext>
            </a:extLst>
          </p:cNvPr>
          <p:cNvSpPr/>
          <p:nvPr/>
        </p:nvSpPr>
        <p:spPr>
          <a:xfrm>
            <a:off x="-8518" y="-17859"/>
            <a:ext cx="12200517" cy="10316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2514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調査や外部データで仮説を検証した結果を記載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993A2B-3CAB-436F-9E4A-136EA55047CF}"/>
              </a:ext>
            </a:extLst>
          </p:cNvPr>
          <p:cNvSpPr txBox="1"/>
          <p:nvPr/>
        </p:nvSpPr>
        <p:spPr>
          <a:xfrm>
            <a:off x="1435970" y="1729936"/>
            <a:ext cx="930302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調査によって判明した結果を記載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特に、想定外の結果（＝バイアスが除去されたこと）をハイライトする</a:t>
            </a:r>
            <a:endParaRPr kumimoji="1" lang="en-US" altLang="ja-JP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FE610483-28AA-1C80-0726-EAA3937FD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1296" y="1509209"/>
            <a:ext cx="9303026" cy="1289013"/>
          </a:xfrm>
          <a:prstGeom prst="roundRect">
            <a:avLst/>
          </a:prstGeom>
          <a:noFill/>
          <a:ln w="571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4649FDB-4C34-8488-D208-F3697B3C852D}"/>
              </a:ext>
            </a:extLst>
          </p:cNvPr>
          <p:cNvSpPr txBox="1"/>
          <p:nvPr/>
        </p:nvSpPr>
        <p:spPr>
          <a:xfrm>
            <a:off x="2633112" y="3230608"/>
            <a:ext cx="6755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3</a:t>
            </a: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分の１以上がリピート希望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F646394-601C-32FB-3324-EE7D3CCFC411}"/>
              </a:ext>
            </a:extLst>
          </p:cNvPr>
          <p:cNvSpPr txBox="1"/>
          <p:nvPr/>
        </p:nvSpPr>
        <p:spPr>
          <a:xfrm>
            <a:off x="8252590" y="4412675"/>
            <a:ext cx="39394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データにはインサイトを添える</a:t>
            </a:r>
            <a:endParaRPr kumimoji="1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268288" marR="0" lvl="0" indent="-2682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2000" b="1" dirty="0">
                <a:solidFill>
                  <a:srgbClr val="FF0066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※</a:t>
            </a:r>
            <a:r>
              <a:rPr lang="ja-JP" altLang="en-US" sz="2000" b="1" dirty="0">
                <a:solidFill>
                  <a:srgbClr val="FF0066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インサイト＝データから判明したこと、洞察</a:t>
            </a:r>
            <a:endParaRPr kumimoji="1" lang="ja-JP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25" name="図 24" descr="グラフサンプル">
            <a:extLst>
              <a:ext uri="{FF2B5EF4-FFF2-40B4-BE49-F238E27FC236}">
                <a16:creationId xmlns:a16="http://schemas.microsoft.com/office/drawing/2014/main" id="{B06F749B-8BA8-B520-8E34-ACC449925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980" y="3428999"/>
            <a:ext cx="3660040" cy="3668210"/>
          </a:xfrm>
          <a:prstGeom prst="rect">
            <a:avLst/>
          </a:prstGeom>
        </p:spPr>
      </p:pic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3445525C-1A11-AD4F-A470-2F3C7A50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89242" y="3120602"/>
            <a:ext cx="5382287" cy="716943"/>
          </a:xfrm>
          <a:prstGeom prst="roundRect">
            <a:avLst/>
          </a:prstGeom>
          <a:noFill/>
          <a:ln w="571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27" name="矢印: 右 26">
            <a:extLst>
              <a:ext uri="{FF2B5EF4-FFF2-40B4-BE49-F238E27FC236}">
                <a16:creationId xmlns:a16="http://schemas.microsoft.com/office/drawing/2014/main" id="{407CC459-4057-67A1-1243-CE169D8AB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177358">
            <a:off x="8300393" y="3374308"/>
            <a:ext cx="1039076" cy="1062446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AA49F73-5BC0-4FCB-BD1C-C9F6BF675D4C}"/>
              </a:ext>
            </a:extLst>
          </p:cNvPr>
          <p:cNvSpPr txBox="1"/>
          <p:nvPr/>
        </p:nvSpPr>
        <p:spPr>
          <a:xfrm>
            <a:off x="632178" y="4412675"/>
            <a:ext cx="39394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図表・グラフも</a:t>
            </a: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3</a:t>
            </a: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色以内に。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400" b="1" dirty="0">
                <a:solidFill>
                  <a:srgbClr val="FF0066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重要な数字は大きく、白抜き文字で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6BD3619-DC3C-F363-AB57-D2DF19129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53520" y="6490252"/>
            <a:ext cx="539902" cy="3677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B6C2A88-D3BF-C9C6-0D06-F9F37E022BCA}"/>
              </a:ext>
            </a:extLst>
          </p:cNvPr>
          <p:cNvSpPr txBox="1"/>
          <p:nvPr/>
        </p:nvSpPr>
        <p:spPr>
          <a:xfrm>
            <a:off x="11541760" y="6490252"/>
            <a:ext cx="65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lang="en-US" altLang="ja-JP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CBC119F-0B28-8A1F-4DB3-E31F3BFE8A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7157" y="276769"/>
            <a:ext cx="2320976" cy="1018124"/>
          </a:xfrm>
          <a:prstGeom prst="rect">
            <a:avLst/>
          </a:prstGeom>
          <a:solidFill>
            <a:srgbClr val="FF0066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What</a:t>
            </a: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スライド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調査結果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433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FE610483-28AA-1C80-0726-EAA3937FD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1296" y="1509209"/>
            <a:ext cx="9303026" cy="1289013"/>
          </a:xfrm>
          <a:prstGeom prst="roundRect">
            <a:avLst/>
          </a:prstGeom>
          <a:noFill/>
          <a:ln w="571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4649FDB-4C34-8488-D208-F3697B3C852D}"/>
              </a:ext>
            </a:extLst>
          </p:cNvPr>
          <p:cNvSpPr txBox="1"/>
          <p:nvPr/>
        </p:nvSpPr>
        <p:spPr>
          <a:xfrm>
            <a:off x="2601883" y="3196117"/>
            <a:ext cx="6755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インサイトを入力</a:t>
            </a: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B06F749B-8BA8-B520-8E34-ACC449925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977" y="3429000"/>
            <a:ext cx="3660040" cy="3668210"/>
          </a:xfrm>
          <a:prstGeom prst="rect">
            <a:avLst/>
          </a:prstGeom>
        </p:spPr>
      </p:pic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3445525C-1A11-AD4F-A470-2F3C7A50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89242" y="3120602"/>
            <a:ext cx="5382287" cy="716943"/>
          </a:xfrm>
          <a:prstGeom prst="roundRect">
            <a:avLst/>
          </a:prstGeom>
          <a:noFill/>
          <a:ln w="571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6BD3619-DC3C-F363-AB57-D2DF19129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53520" y="6490252"/>
            <a:ext cx="539902" cy="3677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B6C2A88-D3BF-C9C6-0D06-F9F37E022BCA}"/>
              </a:ext>
            </a:extLst>
          </p:cNvPr>
          <p:cNvSpPr txBox="1"/>
          <p:nvPr/>
        </p:nvSpPr>
        <p:spPr>
          <a:xfrm>
            <a:off x="11541760" y="6490252"/>
            <a:ext cx="65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lang="en-US" altLang="ja-JP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9CDE5BC-8DFA-E001-E2A0-CC9D60206E4F}"/>
              </a:ext>
            </a:extLst>
          </p:cNvPr>
          <p:cNvSpPr txBox="1"/>
          <p:nvPr/>
        </p:nvSpPr>
        <p:spPr>
          <a:xfrm>
            <a:off x="2257602" y="1890948"/>
            <a:ext cx="7676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テキストを入力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タイトル 8">
            <a:extLst>
              <a:ext uri="{FF2B5EF4-FFF2-40B4-BE49-F238E27FC236}">
                <a16:creationId xmlns:a16="http://schemas.microsoft.com/office/drawing/2014/main" id="{6FF2C99E-0452-2319-606A-70875739212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7463"/>
            <a:ext cx="12192000" cy="1038226"/>
          </a:xfrm>
          <a:prstGeom prst="rect">
            <a:avLst/>
          </a:prstGeom>
          <a:solidFill>
            <a:srgbClr val="2F5597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399818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75F4BF-F37F-4F2D-B95E-F2ACB7C746A1}"/>
              </a:ext>
            </a:extLst>
          </p:cNvPr>
          <p:cNvSpPr/>
          <p:nvPr/>
        </p:nvSpPr>
        <p:spPr>
          <a:xfrm>
            <a:off x="-8518" y="-17859"/>
            <a:ext cx="12200517" cy="10316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2514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調査や外部データで仮説を検証した結果を記載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993A2B-3CAB-436F-9E4A-136EA55047CF}"/>
              </a:ext>
            </a:extLst>
          </p:cNvPr>
          <p:cNvSpPr txBox="1"/>
          <p:nvPr/>
        </p:nvSpPr>
        <p:spPr>
          <a:xfrm>
            <a:off x="1133060" y="1753270"/>
            <a:ext cx="1029693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調査結果によって、これまでの解釈がどう変わったのかを記載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特に、ネガティブ解釈がポジティブ解釈に変わったら尚良い</a:t>
            </a:r>
            <a:endParaRPr kumimoji="1" lang="en-US" altLang="ja-JP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FE610483-28AA-1C80-0726-EAA3937FD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3609" y="1509209"/>
            <a:ext cx="10475843" cy="1289013"/>
          </a:xfrm>
          <a:prstGeom prst="roundRect">
            <a:avLst/>
          </a:prstGeom>
          <a:noFill/>
          <a:ln w="571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66E2F81-75E0-FE93-488C-0F8174F9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49887" y="3293640"/>
            <a:ext cx="4094922" cy="2928256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吹き出し: 右矢印 1">
            <a:extLst>
              <a:ext uri="{FF2B5EF4-FFF2-40B4-BE49-F238E27FC236}">
                <a16:creationId xmlns:a16="http://schemas.microsoft.com/office/drawing/2014/main" id="{8C4E086F-8EE2-30C2-F5A2-525A20784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7191" y="3293640"/>
            <a:ext cx="5459895" cy="2971800"/>
          </a:xfrm>
          <a:prstGeom prst="rightArrowCallout">
            <a:avLst>
              <a:gd name="adj1" fmla="val 22324"/>
              <a:gd name="adj2" fmla="val 25000"/>
              <a:gd name="adj3" fmla="val 31020"/>
              <a:gd name="adj4" fmla="val 6497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A0D04F2-BEF7-1467-65C1-067F8281CA82}"/>
              </a:ext>
            </a:extLst>
          </p:cNvPr>
          <p:cNvSpPr txBox="1"/>
          <p:nvPr/>
        </p:nvSpPr>
        <p:spPr>
          <a:xfrm>
            <a:off x="1547191" y="4456374"/>
            <a:ext cx="3571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これまでの解釈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30587B2-FF51-E984-D523-AFCC33888543}"/>
              </a:ext>
            </a:extLst>
          </p:cNvPr>
          <p:cNvSpPr txBox="1"/>
          <p:nvPr/>
        </p:nvSpPr>
        <p:spPr>
          <a:xfrm>
            <a:off x="6887817" y="4148462"/>
            <a:ext cx="35714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調査によって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3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変化した解釈</a:t>
            </a:r>
            <a:endParaRPr lang="en-US" altLang="ja-JP" sz="36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A8F6B31-976F-3CD3-5F4B-B33167585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53520" y="6490252"/>
            <a:ext cx="539902" cy="3677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9A3830A-BB23-038B-071D-3233B6E6BE3C}"/>
              </a:ext>
            </a:extLst>
          </p:cNvPr>
          <p:cNvSpPr txBox="1"/>
          <p:nvPr/>
        </p:nvSpPr>
        <p:spPr>
          <a:xfrm>
            <a:off x="11541760" y="6490252"/>
            <a:ext cx="65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lang="en-US" altLang="ja-JP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115CBD46-995A-CD50-93B3-86C4D95497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7157" y="276769"/>
            <a:ext cx="2320976" cy="1018124"/>
          </a:xfrm>
          <a:prstGeom prst="rect">
            <a:avLst/>
          </a:prstGeom>
          <a:solidFill>
            <a:srgbClr val="FF0066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What</a:t>
            </a: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スライド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解釈変化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56243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993A2B-3CAB-436F-9E4A-136EA55047CF}"/>
              </a:ext>
            </a:extLst>
          </p:cNvPr>
          <p:cNvSpPr txBox="1"/>
          <p:nvPr/>
        </p:nvSpPr>
        <p:spPr>
          <a:xfrm>
            <a:off x="1133060" y="1888105"/>
            <a:ext cx="10296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テキストを入力</a:t>
            </a:r>
            <a:endParaRPr kumimoji="1" lang="en-US" altLang="ja-JP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FE610483-28AA-1C80-0726-EAA3937FD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3609" y="1509209"/>
            <a:ext cx="10475843" cy="1289013"/>
          </a:xfrm>
          <a:prstGeom prst="roundRect">
            <a:avLst/>
          </a:prstGeom>
          <a:noFill/>
          <a:ln w="571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66E2F81-75E0-FE93-488C-0F8174F9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49887" y="3293640"/>
            <a:ext cx="4094922" cy="2928256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吹き出し: 右矢印 1">
            <a:extLst>
              <a:ext uri="{FF2B5EF4-FFF2-40B4-BE49-F238E27FC236}">
                <a16:creationId xmlns:a16="http://schemas.microsoft.com/office/drawing/2014/main" id="{8C4E086F-8EE2-30C2-F5A2-525A20784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7191" y="3293640"/>
            <a:ext cx="5459895" cy="2971800"/>
          </a:xfrm>
          <a:prstGeom prst="rightArrowCallout">
            <a:avLst>
              <a:gd name="adj1" fmla="val 22324"/>
              <a:gd name="adj2" fmla="val 25000"/>
              <a:gd name="adj3" fmla="val 31020"/>
              <a:gd name="adj4" fmla="val 6497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A0D04F2-BEF7-1467-65C1-067F8281CA82}"/>
              </a:ext>
            </a:extLst>
          </p:cNvPr>
          <p:cNvSpPr txBox="1"/>
          <p:nvPr/>
        </p:nvSpPr>
        <p:spPr>
          <a:xfrm>
            <a:off x="1547192" y="4179375"/>
            <a:ext cx="355872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これまでの解釈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を入力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30587B2-FF51-E984-D523-AFCC33888543}"/>
              </a:ext>
            </a:extLst>
          </p:cNvPr>
          <p:cNvSpPr txBox="1"/>
          <p:nvPr/>
        </p:nvSpPr>
        <p:spPr>
          <a:xfrm>
            <a:off x="6887817" y="3871464"/>
            <a:ext cx="3571461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調査によって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3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変化した解釈</a:t>
            </a:r>
            <a:endParaRPr lang="en-US" altLang="ja-JP" sz="36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3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を入力</a:t>
            </a:r>
            <a:endParaRPr lang="en-US" altLang="ja-JP" sz="36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A8F6B31-976F-3CD3-5F4B-B33167585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53520" y="6490252"/>
            <a:ext cx="539902" cy="3677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9A3830A-BB23-038B-071D-3233B6E6BE3C}"/>
              </a:ext>
            </a:extLst>
          </p:cNvPr>
          <p:cNvSpPr txBox="1"/>
          <p:nvPr/>
        </p:nvSpPr>
        <p:spPr>
          <a:xfrm>
            <a:off x="11541760" y="6490252"/>
            <a:ext cx="65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lang="en-US" altLang="ja-JP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4" name="タイトル 8">
            <a:extLst>
              <a:ext uri="{FF2B5EF4-FFF2-40B4-BE49-F238E27FC236}">
                <a16:creationId xmlns:a16="http://schemas.microsoft.com/office/drawing/2014/main" id="{3ABD8D8D-7B51-2449-C8D6-43C73B1E9B7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7463"/>
            <a:ext cx="12192000" cy="1038226"/>
          </a:xfrm>
          <a:prstGeom prst="rect">
            <a:avLst/>
          </a:prstGeom>
          <a:solidFill>
            <a:srgbClr val="2F5597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1677812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75F4BF-F37F-4F2D-B95E-F2ACB7C746A1}"/>
              </a:ext>
            </a:extLst>
          </p:cNvPr>
          <p:cNvSpPr/>
          <p:nvPr/>
        </p:nvSpPr>
        <p:spPr>
          <a:xfrm>
            <a:off x="-8518" y="-17859"/>
            <a:ext cx="12200517" cy="10316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2514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　</a:t>
            </a: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つまり「どういう本質が分かったのか」を記載</a:t>
            </a:r>
            <a:endParaRPr kumimoji="1" lang="en-US" altLang="ja-JP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993A2B-3CAB-436F-9E4A-136EA55047CF}"/>
              </a:ext>
            </a:extLst>
          </p:cNvPr>
          <p:cNvSpPr txBox="1"/>
          <p:nvPr/>
        </p:nvSpPr>
        <p:spPr>
          <a:xfrm>
            <a:off x="1133060" y="1707103"/>
            <a:ext cx="102969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要は何か？本質をコンパクトに記載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※</a:t>
            </a:r>
            <a:r>
              <a:rPr lang="ja-JP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周囲には余白を配置して確実に注目させる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FE610483-28AA-1C80-0726-EAA3937FD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3609" y="1509209"/>
            <a:ext cx="10475843" cy="1289013"/>
          </a:xfrm>
          <a:prstGeom prst="roundRect">
            <a:avLst/>
          </a:prstGeom>
          <a:noFill/>
          <a:ln w="571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E67942-7D38-2A07-3D4F-C8914524B5E0}"/>
              </a:ext>
            </a:extLst>
          </p:cNvPr>
          <p:cNvSpPr txBox="1"/>
          <p:nvPr/>
        </p:nvSpPr>
        <p:spPr>
          <a:xfrm>
            <a:off x="4041172" y="3293640"/>
            <a:ext cx="4480714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❶ 本質</a:t>
            </a:r>
            <a:r>
              <a:rPr kumimoji="1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A</a:t>
            </a:r>
            <a:r>
              <a:rPr lang="ja-JP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：●●</a:t>
            </a:r>
            <a:endParaRPr kumimoji="1" lang="en-US" altLang="ja-JP" sz="4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❷ 本質</a:t>
            </a:r>
            <a:r>
              <a:rPr kumimoji="1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B</a:t>
            </a:r>
            <a:r>
              <a:rPr lang="ja-JP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：●●</a:t>
            </a:r>
            <a:endParaRPr kumimoji="1" lang="en-US" altLang="ja-JP" sz="4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❸ </a:t>
            </a:r>
            <a:r>
              <a:rPr lang="ja-JP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本質</a:t>
            </a:r>
            <a:r>
              <a:rPr lang="en-US" altLang="ja-JP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C</a:t>
            </a:r>
            <a:r>
              <a:rPr lang="ja-JP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：●●</a:t>
            </a:r>
            <a:endParaRPr kumimoji="1" lang="en-US" altLang="ja-JP" sz="4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9" name="左中かっこ 8">
            <a:extLst>
              <a:ext uri="{FF2B5EF4-FFF2-40B4-BE49-F238E27FC236}">
                <a16:creationId xmlns:a16="http://schemas.microsoft.com/office/drawing/2014/main" id="{BBA84C69-F21B-7297-913C-3760E4C07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1483" y="3490609"/>
            <a:ext cx="544160" cy="2529938"/>
          </a:xfrm>
          <a:prstGeom prst="leftBrace">
            <a:avLst/>
          </a:prstGeom>
          <a:ln w="7620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B3F3E47-3767-DD2D-44FF-5BFD5EFD83A3}"/>
              </a:ext>
            </a:extLst>
          </p:cNvPr>
          <p:cNvSpPr txBox="1"/>
          <p:nvPr/>
        </p:nvSpPr>
        <p:spPr>
          <a:xfrm>
            <a:off x="274692" y="4059779"/>
            <a:ext cx="30449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何が分かったか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具体的に列挙する</a:t>
            </a:r>
            <a:endParaRPr kumimoji="1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B0344F3-5C66-AA1C-0AB1-228DEA7C1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53520" y="6490252"/>
            <a:ext cx="539902" cy="3677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29734CF-C03C-5339-046C-17EE26FC0570}"/>
              </a:ext>
            </a:extLst>
          </p:cNvPr>
          <p:cNvSpPr txBox="1"/>
          <p:nvPr/>
        </p:nvSpPr>
        <p:spPr>
          <a:xfrm>
            <a:off x="11541760" y="6490252"/>
            <a:ext cx="65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lang="en-US" altLang="ja-JP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EACF250-18EB-622C-D465-8D150BA5AD7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7157" y="276769"/>
            <a:ext cx="2320976" cy="1018124"/>
          </a:xfrm>
          <a:prstGeom prst="rect">
            <a:avLst/>
          </a:prstGeom>
          <a:solidFill>
            <a:srgbClr val="FF0066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What</a:t>
            </a: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スライド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本質理解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379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FE610483-28AA-1C80-0726-EAA3937FD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3609" y="1509209"/>
            <a:ext cx="10475843" cy="1289013"/>
          </a:xfrm>
          <a:prstGeom prst="roundRect">
            <a:avLst/>
          </a:prstGeom>
          <a:noFill/>
          <a:ln w="571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E67942-7D38-2A07-3D4F-C8914524B5E0}"/>
              </a:ext>
            </a:extLst>
          </p:cNvPr>
          <p:cNvSpPr txBox="1"/>
          <p:nvPr/>
        </p:nvSpPr>
        <p:spPr>
          <a:xfrm>
            <a:off x="2626939" y="3287320"/>
            <a:ext cx="7398179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❶</a:t>
            </a:r>
            <a:r>
              <a:rPr lang="ja-JP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本質</a:t>
            </a:r>
            <a:r>
              <a:rPr lang="en-US" altLang="ja-JP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A</a:t>
            </a:r>
            <a:r>
              <a:rPr lang="ja-JP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：テキストを入力</a:t>
            </a:r>
            <a:endParaRPr kumimoji="1" lang="en-US" altLang="ja-JP" sz="4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❷本質</a:t>
            </a:r>
            <a:r>
              <a:rPr kumimoji="1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B</a:t>
            </a:r>
            <a:r>
              <a:rPr lang="ja-JP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：テキストを入力</a:t>
            </a:r>
            <a:endParaRPr kumimoji="1" lang="en-US" altLang="ja-JP" sz="4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❸本質</a:t>
            </a:r>
            <a:r>
              <a:rPr kumimoji="1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C</a:t>
            </a:r>
            <a:r>
              <a:rPr lang="ja-JP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：テキストを入力</a:t>
            </a:r>
            <a:endParaRPr kumimoji="1" lang="en-US" altLang="ja-JP" sz="4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B0344F3-5C66-AA1C-0AB1-228DEA7C1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53520" y="6490252"/>
            <a:ext cx="539902" cy="3677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29734CF-C03C-5339-046C-17EE26FC0570}"/>
              </a:ext>
            </a:extLst>
          </p:cNvPr>
          <p:cNvSpPr txBox="1"/>
          <p:nvPr/>
        </p:nvSpPr>
        <p:spPr>
          <a:xfrm>
            <a:off x="11541760" y="6490252"/>
            <a:ext cx="65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lang="en-US" altLang="ja-JP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31FCB86-BA18-5A3F-8329-68944EA676BF}"/>
              </a:ext>
            </a:extLst>
          </p:cNvPr>
          <p:cNvSpPr txBox="1"/>
          <p:nvPr/>
        </p:nvSpPr>
        <p:spPr>
          <a:xfrm>
            <a:off x="1133060" y="1892105"/>
            <a:ext cx="10296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テキストを入力</a:t>
            </a:r>
            <a:endParaRPr kumimoji="1" lang="en-US" altLang="ja-JP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タイトル 8">
            <a:extLst>
              <a:ext uri="{FF2B5EF4-FFF2-40B4-BE49-F238E27FC236}">
                <a16:creationId xmlns:a16="http://schemas.microsoft.com/office/drawing/2014/main" id="{7AB0C8A6-F8D1-1B46-DAE1-FC6EE285793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7463"/>
            <a:ext cx="12192000" cy="1038226"/>
          </a:xfrm>
          <a:prstGeom prst="rect">
            <a:avLst/>
          </a:prstGeom>
          <a:solidFill>
            <a:srgbClr val="2F5597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60636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75F4BF-F37F-4F2D-B95E-F2ACB7C746A1}"/>
              </a:ext>
            </a:extLst>
          </p:cNvPr>
          <p:cNvSpPr/>
          <p:nvPr/>
        </p:nvSpPr>
        <p:spPr>
          <a:xfrm>
            <a:off x="-8518" y="-17859"/>
            <a:ext cx="12200517" cy="10316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2514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　つまり「どういう実現方法が分かったのか」を記載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993A2B-3CAB-436F-9E4A-136EA55047CF}"/>
              </a:ext>
            </a:extLst>
          </p:cNvPr>
          <p:cNvSpPr txBox="1"/>
          <p:nvPr/>
        </p:nvSpPr>
        <p:spPr>
          <a:xfrm>
            <a:off x="1133059" y="1677868"/>
            <a:ext cx="102969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どうやって（</a:t>
            </a:r>
            <a:r>
              <a:rPr kumimoji="1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How</a:t>
            </a: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）どのような変化（</a:t>
            </a:r>
            <a:r>
              <a:rPr kumimoji="1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Wow</a:t>
            </a: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）を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起こすことができるのか要点を記載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FCFFFE-416E-0A82-0EDB-9A75EDA92CC9}"/>
              </a:ext>
            </a:extLst>
          </p:cNvPr>
          <p:cNvSpPr txBox="1"/>
          <p:nvPr/>
        </p:nvSpPr>
        <p:spPr>
          <a:xfrm>
            <a:off x="895777" y="3239869"/>
            <a:ext cx="3243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現在の状態</a:t>
            </a:r>
            <a:endParaRPr kumimoji="1" lang="en-US" altLang="ja-JP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DF03489D-5791-A423-8014-31624DEDA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94704" y="3429001"/>
            <a:ext cx="4058369" cy="2433788"/>
          </a:xfrm>
          <a:prstGeom prst="rightArrow">
            <a:avLst>
              <a:gd name="adj1" fmla="val 74628"/>
              <a:gd name="adj2" fmla="val 44405"/>
            </a:avLst>
          </a:prstGeom>
          <a:solidFill>
            <a:srgbClr val="2F5597"/>
          </a:solidFill>
          <a:ln w="76200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grpSp>
        <p:nvGrpSpPr>
          <p:cNvPr id="7" name="Google Shape;653;p74">
            <a:extLst>
              <a:ext uri="{FF2B5EF4-FFF2-40B4-BE49-F238E27FC236}">
                <a16:creationId xmlns:a16="http://schemas.microsoft.com/office/drawing/2014/main" id="{17ACEF26-AB1C-2D27-1345-C325239FC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456161" y="4193020"/>
            <a:ext cx="2198670" cy="1207776"/>
            <a:chOff x="392934" y="2979105"/>
            <a:chExt cx="1170779" cy="705600"/>
          </a:xfrm>
        </p:grpSpPr>
        <p:pic>
          <p:nvPicPr>
            <p:cNvPr id="17" name="Google Shape;654;p74">
              <a:extLst>
                <a:ext uri="{FF2B5EF4-FFF2-40B4-BE49-F238E27FC236}">
                  <a16:creationId xmlns:a16="http://schemas.microsoft.com/office/drawing/2014/main" id="{65CFC54A-FE9D-642B-6B20-03DBFA9FB9C5}"/>
                </a:ext>
              </a:extLst>
            </p:cNvPr>
            <p:cNvPicPr preferRelativeResize="0"/>
            <p:nvPr/>
          </p:nvPicPr>
          <p:blipFill>
            <a:blip r:embed="rId3" cstate="email">
              <a:alphaModFix/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2934" y="2979106"/>
              <a:ext cx="584440" cy="705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655;p74">
              <a:extLst>
                <a:ext uri="{FF2B5EF4-FFF2-40B4-BE49-F238E27FC236}">
                  <a16:creationId xmlns:a16="http://schemas.microsoft.com/office/drawing/2014/main" id="{8005CF35-7712-D57D-B1E1-281356ACEA8F}"/>
                </a:ext>
              </a:extLst>
            </p:cNvPr>
            <p:cNvPicPr preferRelativeResize="0"/>
            <p:nvPr/>
          </p:nvPicPr>
          <p:blipFill>
            <a:blip r:embed="rId3" cstate="email">
              <a:alphaModFix/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79273" y="2979105"/>
              <a:ext cx="584440" cy="7055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57DEF6C-A6DF-A597-42A9-241454FD5891}"/>
              </a:ext>
            </a:extLst>
          </p:cNvPr>
          <p:cNvSpPr/>
          <p:nvPr/>
        </p:nvSpPr>
        <p:spPr>
          <a:xfrm>
            <a:off x="4274759" y="4073633"/>
            <a:ext cx="283395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40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実現方法（</a:t>
            </a:r>
            <a:r>
              <a:rPr lang="en-US" altLang="ja-JP" sz="40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How</a:t>
            </a:r>
            <a:r>
              <a:rPr lang="ja-JP" altLang="en-US" sz="40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）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13" name="Google Shape;654;p74">
            <a:extLst>
              <a:ext uri="{FF2B5EF4-FFF2-40B4-BE49-F238E27FC236}">
                <a16:creationId xmlns:a16="http://schemas.microsoft.com/office/drawing/2014/main" id="{812C9253-6D84-7838-1F27-FAB6ADE22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>
          <a:blip r:embed="rId3" cstate="email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8483" y="4135442"/>
            <a:ext cx="1097552" cy="120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654;p74">
            <a:extLst>
              <a:ext uri="{FF2B5EF4-FFF2-40B4-BE49-F238E27FC236}">
                <a16:creationId xmlns:a16="http://schemas.microsoft.com/office/drawing/2014/main" id="{775590F5-3DF0-6B4B-0E00-2903C6792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email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2931"/>
          <a:stretch/>
        </p:blipFill>
        <p:spPr>
          <a:xfrm>
            <a:off x="9405098" y="4144540"/>
            <a:ext cx="626361" cy="120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A175DE6-801B-E32F-D2DD-6742716C3A73}"/>
              </a:ext>
            </a:extLst>
          </p:cNvPr>
          <p:cNvSpPr txBox="1"/>
          <p:nvPr/>
        </p:nvSpPr>
        <p:spPr>
          <a:xfrm>
            <a:off x="7146906" y="5555011"/>
            <a:ext cx="21839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人員コスト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400" b="1" i="0" u="none" strike="noStrike" kern="1200" cap="none" spc="0" normalizeH="0" baseline="0" noProof="0" dirty="0">
                <a:ln>
                  <a:noFill/>
                </a:ln>
                <a:solidFill>
                  <a:srgbClr val="4188F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33</a:t>
            </a: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4188F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%</a:t>
            </a: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ダウン</a:t>
            </a:r>
            <a:endParaRPr kumimoji="1" lang="en-US" altLang="ja-JP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0BD720A-0D06-5E67-E966-92AF18ECA944}"/>
              </a:ext>
            </a:extLst>
          </p:cNvPr>
          <p:cNvSpPr txBox="1"/>
          <p:nvPr/>
        </p:nvSpPr>
        <p:spPr>
          <a:xfrm>
            <a:off x="9246035" y="5555011"/>
            <a:ext cx="25395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処理スピード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400" b="1" i="0" u="none" strike="noStrike" kern="1200" cap="none" spc="0" normalizeH="0" baseline="0" noProof="0" dirty="0">
                <a:ln>
                  <a:noFill/>
                </a:ln>
                <a:solidFill>
                  <a:srgbClr val="4188F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15</a:t>
            </a: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4188F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%</a:t>
            </a: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アップ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B27588F-619D-9E29-D568-02CCD59676E8}"/>
              </a:ext>
            </a:extLst>
          </p:cNvPr>
          <p:cNvSpPr txBox="1"/>
          <p:nvPr/>
        </p:nvSpPr>
        <p:spPr>
          <a:xfrm>
            <a:off x="7423153" y="3239869"/>
            <a:ext cx="4845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未来の状態（</a:t>
            </a:r>
            <a:r>
              <a:rPr kumimoji="1" lang="en-US" altLang="ja-JP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Wow</a:t>
            </a: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）</a:t>
            </a:r>
            <a:endParaRPr kumimoji="1" lang="en-US" altLang="ja-JP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C56794B3-050D-2AA8-A732-6765914EB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3609" y="1509209"/>
            <a:ext cx="10475843" cy="1289013"/>
          </a:xfrm>
          <a:prstGeom prst="roundRect">
            <a:avLst/>
          </a:prstGeom>
          <a:noFill/>
          <a:ln w="571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971F3A5-9C03-4D3A-9939-F3BC8F24D325}"/>
              </a:ext>
            </a:extLst>
          </p:cNvPr>
          <p:cNvSpPr txBox="1"/>
          <p:nvPr/>
        </p:nvSpPr>
        <p:spPr>
          <a:xfrm>
            <a:off x="1573934" y="5746307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●</a:t>
            </a: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/</a:t>
            </a: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●までに■■する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400" b="1" dirty="0">
                <a:solidFill>
                  <a:srgbClr val="FF0066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などの実行計画を入れると尚良い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52D84A3-0177-AB06-0EE8-D059FED2E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53520" y="6490252"/>
            <a:ext cx="539902" cy="3677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C29B74F-5CDF-73CA-6FC9-5329D4053A49}"/>
              </a:ext>
            </a:extLst>
          </p:cNvPr>
          <p:cNvSpPr txBox="1"/>
          <p:nvPr/>
        </p:nvSpPr>
        <p:spPr>
          <a:xfrm>
            <a:off x="11541760" y="6490252"/>
            <a:ext cx="65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lang="en-US" altLang="ja-JP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88374CE-8ADE-9276-8A4D-B71E5D959DA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7157" y="99390"/>
            <a:ext cx="2566226" cy="1289013"/>
          </a:xfrm>
          <a:prstGeom prst="rect">
            <a:avLst/>
          </a:prstGeom>
          <a:solidFill>
            <a:srgbClr val="FF0066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kumimoji="1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How/Wow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スライド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提案内容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1147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FCFFFE-416E-0A82-0EDB-9A75EDA92CC9}"/>
              </a:ext>
            </a:extLst>
          </p:cNvPr>
          <p:cNvSpPr txBox="1"/>
          <p:nvPr/>
        </p:nvSpPr>
        <p:spPr>
          <a:xfrm>
            <a:off x="895777" y="3239869"/>
            <a:ext cx="3243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テキストを入力</a:t>
            </a:r>
            <a:endParaRPr kumimoji="1" lang="en-US" altLang="ja-JP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DF03489D-5791-A423-8014-31624DEDA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94704" y="3429001"/>
            <a:ext cx="4058369" cy="2433788"/>
          </a:xfrm>
          <a:prstGeom prst="rightArrow">
            <a:avLst>
              <a:gd name="adj1" fmla="val 74628"/>
              <a:gd name="adj2" fmla="val 44405"/>
            </a:avLst>
          </a:prstGeom>
          <a:solidFill>
            <a:srgbClr val="2F5597"/>
          </a:solidFill>
          <a:ln w="76200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57DEF6C-A6DF-A597-42A9-241454FD5891}"/>
              </a:ext>
            </a:extLst>
          </p:cNvPr>
          <p:cNvSpPr/>
          <p:nvPr/>
        </p:nvSpPr>
        <p:spPr>
          <a:xfrm>
            <a:off x="4274759" y="4073633"/>
            <a:ext cx="283395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40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手法を入力（</a:t>
            </a:r>
            <a:r>
              <a:rPr lang="en-US" altLang="ja-JP" sz="40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How</a:t>
            </a:r>
            <a:r>
              <a:rPr lang="ja-JP" altLang="en-US" sz="40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）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A175DE6-801B-E32F-D2DD-6742716C3A73}"/>
              </a:ext>
            </a:extLst>
          </p:cNvPr>
          <p:cNvSpPr txBox="1"/>
          <p:nvPr/>
        </p:nvSpPr>
        <p:spPr>
          <a:xfrm>
            <a:off x="7146906" y="5555011"/>
            <a:ext cx="21839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例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4188F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●</a:t>
            </a: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4188F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%</a:t>
            </a: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ダウン</a:t>
            </a:r>
            <a:endParaRPr kumimoji="1" lang="en-US" altLang="ja-JP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0BD720A-0D06-5E67-E966-92AF18ECA944}"/>
              </a:ext>
            </a:extLst>
          </p:cNvPr>
          <p:cNvSpPr txBox="1"/>
          <p:nvPr/>
        </p:nvSpPr>
        <p:spPr>
          <a:xfrm>
            <a:off x="9246035" y="5555011"/>
            <a:ext cx="21839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例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4188F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●</a:t>
            </a: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4188F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%</a:t>
            </a: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アップ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B27588F-619D-9E29-D568-02CCD59676E8}"/>
              </a:ext>
            </a:extLst>
          </p:cNvPr>
          <p:cNvSpPr txBox="1"/>
          <p:nvPr/>
        </p:nvSpPr>
        <p:spPr>
          <a:xfrm>
            <a:off x="7423153" y="3239869"/>
            <a:ext cx="4845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テキストを入力</a:t>
            </a:r>
            <a:endParaRPr kumimoji="1" lang="en-US" altLang="ja-JP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C56794B3-050D-2AA8-A732-6765914EB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3609" y="1509209"/>
            <a:ext cx="10475843" cy="1289013"/>
          </a:xfrm>
          <a:prstGeom prst="roundRect">
            <a:avLst/>
          </a:prstGeom>
          <a:noFill/>
          <a:ln w="571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971F3A5-9C03-4D3A-9939-F3BC8F24D325}"/>
              </a:ext>
            </a:extLst>
          </p:cNvPr>
          <p:cNvSpPr txBox="1"/>
          <p:nvPr/>
        </p:nvSpPr>
        <p:spPr>
          <a:xfrm>
            <a:off x="1573934" y="5727896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●</a:t>
            </a:r>
            <a:r>
              <a:rPr kumimoji="1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/</a:t>
            </a: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●までに■■する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52D84A3-0177-AB06-0EE8-D059FED2E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53520" y="6490252"/>
            <a:ext cx="539902" cy="3677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C29B74F-5CDF-73CA-6FC9-5329D4053A49}"/>
              </a:ext>
            </a:extLst>
          </p:cNvPr>
          <p:cNvSpPr txBox="1"/>
          <p:nvPr/>
        </p:nvSpPr>
        <p:spPr>
          <a:xfrm>
            <a:off x="11541760" y="6490252"/>
            <a:ext cx="65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lang="en-US" altLang="ja-JP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39FED67-1CF9-96F5-59FF-4D8F3761DC8A}"/>
              </a:ext>
            </a:extLst>
          </p:cNvPr>
          <p:cNvSpPr txBox="1"/>
          <p:nvPr/>
        </p:nvSpPr>
        <p:spPr>
          <a:xfrm>
            <a:off x="1133060" y="1888105"/>
            <a:ext cx="10296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テキストを入力</a:t>
            </a:r>
            <a:endParaRPr kumimoji="1" lang="en-US" altLang="ja-JP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CE0D33A-C8C0-F9A0-8FDC-0A33BE4ABD64}"/>
              </a:ext>
            </a:extLst>
          </p:cNvPr>
          <p:cNvSpPr/>
          <p:nvPr/>
        </p:nvSpPr>
        <p:spPr>
          <a:xfrm>
            <a:off x="1381382" y="4109086"/>
            <a:ext cx="2271941" cy="12525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イラスト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33245C3-60ED-7C82-4521-15960D2BE9F9}"/>
              </a:ext>
            </a:extLst>
          </p:cNvPr>
          <p:cNvSpPr/>
          <p:nvPr/>
        </p:nvSpPr>
        <p:spPr>
          <a:xfrm>
            <a:off x="8710125" y="4109086"/>
            <a:ext cx="2271941" cy="12525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イラスト</a:t>
            </a:r>
          </a:p>
        </p:txBody>
      </p:sp>
      <p:sp>
        <p:nvSpPr>
          <p:cNvPr id="3" name="タイトル 8">
            <a:extLst>
              <a:ext uri="{FF2B5EF4-FFF2-40B4-BE49-F238E27FC236}">
                <a16:creationId xmlns:a16="http://schemas.microsoft.com/office/drawing/2014/main" id="{7E3DECC9-144F-048A-C77B-56E9A5C468A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7463"/>
            <a:ext cx="12192000" cy="1038226"/>
          </a:xfrm>
          <a:prstGeom prst="rect">
            <a:avLst/>
          </a:prstGeom>
          <a:solidFill>
            <a:srgbClr val="2F5597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2061927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75F4BF-F37F-4F2D-B95E-F2ACB7C746A1}"/>
              </a:ext>
            </a:extLst>
          </p:cNvPr>
          <p:cNvSpPr/>
          <p:nvPr/>
        </p:nvSpPr>
        <p:spPr>
          <a:xfrm>
            <a:off x="-8518" y="-17859"/>
            <a:ext cx="12200517" cy="10316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2514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Meiryo UI"/>
                <a:cs typeface="+mn-cs"/>
              </a:rPr>
              <a:t>　</a:t>
            </a: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提案ストーリーのまとめ</a:t>
            </a:r>
            <a:endParaRPr kumimoji="1" lang="en-US" altLang="ja-JP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993A2B-3CAB-436F-9E4A-136EA55047CF}"/>
              </a:ext>
            </a:extLst>
          </p:cNvPr>
          <p:cNvSpPr txBox="1"/>
          <p:nvPr/>
        </p:nvSpPr>
        <p:spPr>
          <a:xfrm>
            <a:off x="1133060" y="1758938"/>
            <a:ext cx="102969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相手に求める具体的なアクションを</a:t>
            </a:r>
            <a:r>
              <a:rPr lang="ja-JP" altLang="en-US" sz="4000" b="1" dirty="0">
                <a:solidFill>
                  <a:prstClr val="black">
                    <a:lumMod val="75000"/>
                    <a:lumOff val="25000"/>
                  </a:prst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列挙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8C5962EC-78F9-BC2A-79F2-A090AADF7D0B}"/>
              </a:ext>
            </a:extLst>
          </p:cNvPr>
          <p:cNvSpPr txBox="1"/>
          <p:nvPr/>
        </p:nvSpPr>
        <p:spPr>
          <a:xfrm>
            <a:off x="2521242" y="2787549"/>
            <a:ext cx="5788569" cy="2694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5475" marR="0" lvl="0" indent="-612775" algn="l" defTabSz="914400" rtl="0" eaLnBrk="1" fontAlgn="auto" latinLnBrk="0" hangingPunct="1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/>
              </a:rPr>
              <a:t> </a:t>
            </a:r>
            <a:r>
              <a:rPr kumimoji="1" lang="en-US" altLang="ja-JP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/>
              </a:rPr>
              <a:t>300</a:t>
            </a: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/>
              </a:rPr>
              <a:t>万円</a:t>
            </a: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/>
              </a:rPr>
              <a:t>の投資</a:t>
            </a:r>
            <a:endParaRPr kumimoji="1" lang="en-US" altLang="ja-JP" sz="4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Times New Roman"/>
            </a:endParaRPr>
          </a:p>
          <a:p>
            <a:pPr marL="625475" marR="0" lvl="0" indent="-612775" algn="l" defTabSz="914400" rtl="0" eaLnBrk="1" fontAlgn="auto" latinLnBrk="0" hangingPunct="1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/>
              </a:rPr>
              <a:t> </a:t>
            </a:r>
            <a:r>
              <a:rPr kumimoji="1" lang="en-US" altLang="ja-JP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/>
              </a:rPr>
              <a:t>6</a:t>
            </a: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/>
              </a:rPr>
              <a:t>か月のプロジェクト</a:t>
            </a:r>
            <a:endParaRPr kumimoji="1" lang="en-US" altLang="ja-JP" sz="4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Times New Roman"/>
            </a:endParaRPr>
          </a:p>
          <a:p>
            <a:pPr marL="625475" marR="0" lvl="0" indent="-612775" algn="l" defTabSz="914400" rtl="0" eaLnBrk="1" fontAlgn="auto" latinLnBrk="0" hangingPunct="1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ja-JP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/>
              </a:rPr>
              <a:t> 2</a:t>
            </a:r>
            <a:r>
              <a:rPr lang="ja-JP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/>
              </a:rPr>
              <a:t>名の選任</a:t>
            </a:r>
            <a:r>
              <a:rPr kumimoji="1" lang="en-US" altLang="ja-JP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/>
              </a:rPr>
              <a:t> 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30C2CE4-3A51-A338-F841-981DB58F6EE5}"/>
              </a:ext>
            </a:extLst>
          </p:cNvPr>
          <p:cNvSpPr txBox="1"/>
          <p:nvPr/>
        </p:nvSpPr>
        <p:spPr>
          <a:xfrm>
            <a:off x="0" y="581506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●</a:t>
            </a:r>
            <a:r>
              <a:rPr kumimoji="1" lang="en-US" altLang="ja-JP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/</a:t>
            </a: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●までに決定をお願いします</a:t>
            </a:r>
            <a:endParaRPr kumimoji="1" lang="en-US" altLang="ja-JP" sz="4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0" name="吹き出し: 上矢印 9">
            <a:extLst>
              <a:ext uri="{FF2B5EF4-FFF2-40B4-BE49-F238E27FC236}">
                <a16:creationId xmlns:a16="http://schemas.microsoft.com/office/drawing/2014/main" id="{65FD0D8C-79C9-3CF8-1754-C7A2F77DB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971183" y="3429000"/>
            <a:ext cx="3637720" cy="2467679"/>
          </a:xfrm>
          <a:prstGeom prst="upArrowCallout">
            <a:avLst>
              <a:gd name="adj1" fmla="val 27854"/>
              <a:gd name="adj2" fmla="val 25000"/>
              <a:gd name="adj3" fmla="val 25000"/>
              <a:gd name="adj4" fmla="val 64977"/>
            </a:avLst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7C23006-E2C3-CFB6-5832-57539DF4D6FB}"/>
              </a:ext>
            </a:extLst>
          </p:cNvPr>
          <p:cNvSpPr txBox="1"/>
          <p:nvPr/>
        </p:nvSpPr>
        <p:spPr>
          <a:xfrm>
            <a:off x="7971183" y="3706769"/>
            <a:ext cx="3637720" cy="954107"/>
          </a:xfrm>
          <a:prstGeom prst="rect">
            <a:avLst/>
          </a:prstGeom>
          <a:solidFill>
            <a:srgbClr val="FF0066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期日を入れると</a:t>
            </a:r>
            <a:r>
              <a:rPr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、</a:t>
            </a:r>
            <a:endParaRPr lang="en-US" altLang="ja-JP" sz="28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行動を誘発しやすい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37E9FDBB-BC56-BE1B-03B4-672CA0ACF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3609" y="1509209"/>
            <a:ext cx="10475843" cy="1214111"/>
          </a:xfrm>
          <a:prstGeom prst="roundRect">
            <a:avLst/>
          </a:prstGeom>
          <a:noFill/>
          <a:ln w="571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00B51D62-FB4D-849E-17DD-2EB5880FC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21306" y="5744124"/>
            <a:ext cx="8582526" cy="858235"/>
          </a:xfrm>
          <a:prstGeom prst="roundRect">
            <a:avLst/>
          </a:prstGeom>
          <a:noFill/>
          <a:ln w="571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5F8EBFC-90E2-F80B-0C10-A8EE06BF3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53520" y="6490252"/>
            <a:ext cx="539902" cy="3677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6BD5805-AC54-69BF-5D2F-E59D192678D9}"/>
              </a:ext>
            </a:extLst>
          </p:cNvPr>
          <p:cNvSpPr txBox="1"/>
          <p:nvPr/>
        </p:nvSpPr>
        <p:spPr>
          <a:xfrm>
            <a:off x="11541760" y="6490252"/>
            <a:ext cx="65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lang="en-US" altLang="ja-JP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6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C31492D7-9957-3991-622E-AD7DB7A75D0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7157" y="99390"/>
            <a:ext cx="2566226" cy="1357814"/>
          </a:xfrm>
          <a:prstGeom prst="rect">
            <a:avLst/>
          </a:prstGeom>
          <a:solidFill>
            <a:srgbClr val="FF0066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まとめ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相手に求める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アクション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95530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7">
            <a:extLst>
              <a:ext uri="{FF2B5EF4-FFF2-40B4-BE49-F238E27FC236}">
                <a16:creationId xmlns:a16="http://schemas.microsoft.com/office/drawing/2014/main" id="{8C5962EC-78F9-BC2A-79F2-A090AADF7D0B}"/>
              </a:ext>
            </a:extLst>
          </p:cNvPr>
          <p:cNvSpPr txBox="1"/>
          <p:nvPr/>
        </p:nvSpPr>
        <p:spPr>
          <a:xfrm>
            <a:off x="2353745" y="2790221"/>
            <a:ext cx="7917647" cy="2694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5475" marR="0" lvl="0" indent="-612775" algn="l" defTabSz="914400" rtl="0" eaLnBrk="1" fontAlgn="auto" latinLnBrk="0" hangingPunct="1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/>
              </a:rPr>
              <a:t> テキストを入力テキストを入力</a:t>
            </a:r>
            <a:endParaRPr kumimoji="1" lang="en-US" altLang="ja-JP" sz="4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Times New Roman"/>
            </a:endParaRPr>
          </a:p>
          <a:p>
            <a:pPr marL="625475" marR="0" lvl="0" indent="-612775" algn="l" defTabSz="914400" rtl="0" eaLnBrk="1" fontAlgn="auto" latinLnBrk="0" hangingPunct="1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/>
              </a:rPr>
              <a:t> テキストを入力テキストを入力</a:t>
            </a:r>
            <a:endParaRPr kumimoji="1" lang="en-US" altLang="ja-JP" sz="4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Times New Roman"/>
            </a:endParaRPr>
          </a:p>
          <a:p>
            <a:pPr marL="625475" marR="0" lvl="0" indent="-612775" algn="l" defTabSz="914400" rtl="0" eaLnBrk="1" fontAlgn="auto" latinLnBrk="0" hangingPunct="1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/>
              </a:rPr>
              <a:t> テキストを入力テキストを入力</a:t>
            </a:r>
            <a:endParaRPr kumimoji="1" lang="en-US" altLang="ja-JP" sz="4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Times New Roman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30C2CE4-3A51-A338-F841-981DB58F6EE5}"/>
              </a:ext>
            </a:extLst>
          </p:cNvPr>
          <p:cNvSpPr txBox="1"/>
          <p:nvPr/>
        </p:nvSpPr>
        <p:spPr>
          <a:xfrm>
            <a:off x="0" y="581929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●</a:t>
            </a:r>
            <a:r>
              <a:rPr kumimoji="1" lang="en-US" altLang="ja-JP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/</a:t>
            </a: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●までにといった期日を入力</a:t>
            </a:r>
            <a:endParaRPr kumimoji="1" lang="en-US" altLang="ja-JP" sz="4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37E9FDBB-BC56-BE1B-03B4-672CA0ACF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3609" y="1509209"/>
            <a:ext cx="10475843" cy="1214111"/>
          </a:xfrm>
          <a:prstGeom prst="roundRect">
            <a:avLst/>
          </a:prstGeom>
          <a:noFill/>
          <a:ln w="571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00B51D62-FB4D-849E-17DD-2EB5880FC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21306" y="5744124"/>
            <a:ext cx="8582526" cy="858235"/>
          </a:xfrm>
          <a:prstGeom prst="roundRect">
            <a:avLst/>
          </a:prstGeom>
          <a:noFill/>
          <a:ln w="571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eiryo UI"/>
              <a:cs typeface="+mn-cs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5F8EBFC-90E2-F80B-0C10-A8EE06BF3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53520" y="6490252"/>
            <a:ext cx="539902" cy="3677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6BD5805-AC54-69BF-5D2F-E59D192678D9}"/>
              </a:ext>
            </a:extLst>
          </p:cNvPr>
          <p:cNvSpPr txBox="1"/>
          <p:nvPr/>
        </p:nvSpPr>
        <p:spPr>
          <a:xfrm>
            <a:off x="11541760" y="6490252"/>
            <a:ext cx="65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lang="en-US" altLang="ja-JP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6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B678B71-A863-0330-F2E5-5B8C301ECF99}"/>
              </a:ext>
            </a:extLst>
          </p:cNvPr>
          <p:cNvSpPr txBox="1"/>
          <p:nvPr/>
        </p:nvSpPr>
        <p:spPr>
          <a:xfrm>
            <a:off x="1133060" y="1888105"/>
            <a:ext cx="10296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 テキストを入力</a:t>
            </a:r>
            <a:endParaRPr kumimoji="1" lang="en-US" altLang="ja-JP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タイトル 8">
            <a:extLst>
              <a:ext uri="{FF2B5EF4-FFF2-40B4-BE49-F238E27FC236}">
                <a16:creationId xmlns:a16="http://schemas.microsoft.com/office/drawing/2014/main" id="{77986A13-21B8-5F39-0175-7955D870429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7463"/>
            <a:ext cx="12192000" cy="1038226"/>
          </a:xfrm>
          <a:prstGeom prst="rect">
            <a:avLst/>
          </a:prstGeom>
          <a:solidFill>
            <a:srgbClr val="2F5597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127764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3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Meiryo UI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14576870-4f98-411a-84d6-60fb38bd27db">
      <Terms xmlns="http://schemas.microsoft.com/office/infopath/2007/PartnerControls"/>
    </lcf76f155ced4ddcb4097134ff3c332f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5D4E1653F4F64585FB4CC107FD60BB" ma:contentTypeVersion="17" ma:contentTypeDescription="Create a new document." ma:contentTypeScope="" ma:versionID="3bf6e7d1fc1f1cfd043fb5d3ae364a55">
  <xsd:schema xmlns:xsd="http://www.w3.org/2001/XMLSchema" xmlns:xs="http://www.w3.org/2001/XMLSchema" xmlns:p="http://schemas.microsoft.com/office/2006/metadata/properties" xmlns:ns1="http://schemas.microsoft.com/sharepoint/v3" xmlns:ns2="cfc2331f-58fd-4204-9433-bed6399caa48" xmlns:ns3="14576870-4f98-411a-84d6-60fb38bd27db" xmlns:ns4="230e9df3-be65-4c73-a93b-d1236ebd677e" targetNamespace="http://schemas.microsoft.com/office/2006/metadata/properties" ma:root="true" ma:fieldsID="9ac178aa623cf56863083ec1b853f21d" ns1:_="" ns2:_="" ns3:_="" ns4:_="">
    <xsd:import namespace="http://schemas.microsoft.com/sharepoint/v3"/>
    <xsd:import namespace="cfc2331f-58fd-4204-9433-bed6399caa48"/>
    <xsd:import namespace="14576870-4f98-411a-84d6-60fb38bd27db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lcf76f155ced4ddcb4097134ff3c332f" minOccurs="0"/>
                <xsd:element ref="ns4:TaxCatchAll" minOccurs="0"/>
                <xsd:element ref="ns1:_ip_UnifiedCompliancePolicyProperties" minOccurs="0"/>
                <xsd:element ref="ns1:_ip_UnifiedCompliancePolicyUIAc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c2331f-58fd-4204-9433-bed6399caa4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576870-4f98-411a-84d6-60fb38bd27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5" nillable="true" ma:displayName="MediaServiceOCR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0c541045-2103-4781-b2f2-d40e37b16d0f}" ma:internalName="TaxCatchAll" ma:showField="CatchAllData" ma:web="cfc2331f-58fd-4204-9433-bed6399caa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63DCF3-A0B8-4B82-A985-2C07908C51BA}">
  <ds:schemaRefs>
    <ds:schemaRef ds:uri="http://purl.org/dc/terms/"/>
    <ds:schemaRef ds:uri="230e9df3-be65-4c73-a93b-d1236ebd677e"/>
    <ds:schemaRef ds:uri="http://purl.org/dc/elements/1.1/"/>
    <ds:schemaRef ds:uri="http://schemas.microsoft.com/sharepoint/v3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14576870-4f98-411a-84d6-60fb38bd27db"/>
    <ds:schemaRef ds:uri="http://schemas.microsoft.com/office/2006/documentManagement/types"/>
    <ds:schemaRef ds:uri="cfc2331f-58fd-4204-9433-bed6399caa48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6C6D5D1-AD98-41D8-B832-CEEA74D017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22F504-0B13-42B2-9C66-28B8B0D58E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fc2331f-58fd-4204-9433-bed6399caa48"/>
    <ds:schemaRef ds:uri="14576870-4f98-411a-84d6-60fb38bd27db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1152</Words>
  <Application>Microsoft Office PowerPoint</Application>
  <PresentationFormat>ワイド画面</PresentationFormat>
  <Paragraphs>221</Paragraphs>
  <Slides>25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34" baseType="lpstr">
      <vt:lpstr>Meiryo UI</vt:lpstr>
      <vt:lpstr>Yu Gothic UI</vt:lpstr>
      <vt:lpstr>メイリオ</vt:lpstr>
      <vt:lpstr>游ゴシック</vt:lpstr>
      <vt:lpstr>Arial</vt:lpstr>
      <vt:lpstr>Calibri</vt:lpstr>
      <vt:lpstr>Segoe UI</vt:lpstr>
      <vt:lpstr>Wingdings 2</vt:lpstr>
      <vt:lpstr>3_HDOfficeLightV0</vt:lpstr>
      <vt:lpstr>17.3万人の調査、5万のパワポ資料の分析 そして2.1万人の再現実験でわかった！  相手を動かす企画書</vt:lpstr>
      <vt:lpstr>❶誰に？</vt:lpstr>
      <vt:lpstr>一発OKの企画書を分析、共通点を抽出</vt:lpstr>
      <vt:lpstr>そもそも企画書とは…</vt:lpstr>
      <vt:lpstr>3Wストーリーで相手と共鳴する</vt:lpstr>
      <vt:lpstr>”伝わる”を目指して相手を動かす</vt:lpstr>
      <vt:lpstr>自分本位の”伝える”資料は伝わらない</vt:lpstr>
      <vt:lpstr>一発OKをもらえる 相手に伝わる インパクト・スライドはこれ</vt:lpstr>
      <vt:lpstr>太陽光発電で安定と安心を</vt:lpstr>
      <vt:lpstr>相手に”伝わる”デザイン６ルール</vt:lpstr>
      <vt:lpstr>タイトル＝調査・解釈で分かった本質（白抜き文字）</vt:lpstr>
      <vt:lpstr>タイトルを入力</vt:lpstr>
      <vt:lpstr>３Wで相手を説得する 6スライドテンプレート</vt:lpstr>
      <vt:lpstr> Whyスライド　疑問提起</vt:lpstr>
      <vt:lpstr>タイトルを入力</vt:lpstr>
      <vt:lpstr> Whatスライド 調査結果</vt:lpstr>
      <vt:lpstr>タイトルを入力</vt:lpstr>
      <vt:lpstr> Whatスライド 解釈変化</vt:lpstr>
      <vt:lpstr>タイトルを入力</vt:lpstr>
      <vt:lpstr> Whatスライド 本質理解</vt:lpstr>
      <vt:lpstr>タイトルを入力</vt:lpstr>
      <vt:lpstr> How/Wow スライド 提案内容</vt:lpstr>
      <vt:lpstr>タイトルを入力</vt:lpstr>
      <vt:lpstr>まとめ 相手に求める アクション</vt:lpstr>
      <vt:lpstr>タイトルを入力</vt:lpstr>
    </vt:vector>
  </TitlesOfParts>
  <Manager/>
  <Company/>
  <LinksUpToDate>false</LinksUpToDate>
  <SharedDoc>false</SharedDoc>
  <HyperlinkBase>https://www.microsoft.com/ja-jp/office/homeuse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越川氏監修: 相手を動かす企画書</dc:title>
  <dc:creator/>
  <cp:keywords>Office; Office 365; Microsoft 365; Microsoft 365 Apps; PowerPoint; パワーポイント; パワポ</cp:keywords>
  <cp:lastModifiedBy/>
  <cp:revision>1</cp:revision>
  <dcterms:created xsi:type="dcterms:W3CDTF">2022-03-07T02:09:43Z</dcterms:created>
  <dcterms:modified xsi:type="dcterms:W3CDTF">2022-12-23T05:09:50Z</dcterms:modified>
  <cp:category>テンプレート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0x010100595D4E1653F4F64585FB4CC107FD60BB</vt:lpwstr>
  </property>
</Properties>
</file>